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28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841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n-US" sz="1200" b="1" kern="0" spc="200" dirty="0" smtClean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Models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Mathematics, Formulas &amp; Term-by-Term Explanations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4" y="42693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9184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374" y="42693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7180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134" y="426933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59536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9894" y="4269334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7532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point based on the majority vote of its k closest neighbors.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36976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65576" y="1828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110" y="19833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38144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Bayes' Theorem, assuming features are independent given the class.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25312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53912" y="182880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446" y="19833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26480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trained on random subsets and averages their votes.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13648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42248" y="1828800"/>
            <a:ext cx="594360" cy="594360"/>
          </a:xfrm>
          <a:prstGeom prst="ellipse">
            <a:avLst/>
          </a:prstGeom>
          <a:solidFill>
            <a:srgbClr val="3E4C8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782" y="19833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14816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814816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log-odds of an outcome as a linear function, then converts it to a probability.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entire training dataset — there is no explicit 'training' phase.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a new point, it finds the k closest training points using a distance metric.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classification, it takes a majority vote among those k neighbors.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regression, it averages the values of the k neighbors.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k and the distance metric strongly affect performance.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(instance-based / “lazy” learner)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620617"/>
              </p:ext>
            </p:extLst>
          </p:nvPr>
        </p:nvGraphicFramePr>
        <p:xfrm>
          <a:off x="5897880" y="771753"/>
          <a:ext cx="4122214" cy="2848576"/>
        </p:xfrm>
        <a:graphic>
          <a:graphicData uri="http://schemas.openxmlformats.org/drawingml/2006/table">
            <a:tbl>
              <a:tblPr/>
              <a:tblGrid>
                <a:gridCol w="994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d(x, x′)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Euclidean distance between a new point x and a training point x′.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xᵢ, x′ᵢ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The i-th feature values of the two points being compared.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k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Number of nearest neighbors considered for the prediction.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ŷ (y-hat)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Predicted label — the most common class among the k neighbors.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mode{...}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The most frequently occurring value in the neighbor set (majority vote).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37712" y="4116036"/>
            <a:ext cx="3794760" cy="193877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866312" y="4290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CHOOSING 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0" y="4728931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 → sensitive to noise (overfitting)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k → smoother but may blur class boundaries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usually chosen via cross-validation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often scaled first so no single feature dominates the distance.</a:t>
            </a:r>
            <a:endParaRPr lang="en-US" sz="11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00" t="27940" r="12407" b="20057"/>
          <a:stretch/>
        </p:blipFill>
        <p:spPr>
          <a:xfrm>
            <a:off x="554817" y="1502233"/>
            <a:ext cx="4486740" cy="49109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Bayes' Theorem — it calculates the probability of each class given the input features.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'Naive' because it assumes all features are independent of each other given the class.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this simplifying assumption, it performs very well in practice (e.g. spam filtering, text classification).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since it only needs to estimate simple probabilities from the data.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(probabilistic model)</a:t>
            </a:r>
            <a:endParaRPr lang="en-US" sz="155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032437"/>
              </p:ext>
            </p:extLst>
          </p:nvPr>
        </p:nvGraphicFramePr>
        <p:xfrm>
          <a:off x="5958428" y="620344"/>
          <a:ext cx="3949219" cy="2795030"/>
        </p:xfrm>
        <a:graphic>
          <a:graphicData uri="http://schemas.openxmlformats.org/drawingml/2006/table">
            <a:tbl>
              <a:tblPr/>
              <a:tblGrid>
                <a:gridCol w="952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ŷ (y-hat)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Predicted class — the one with the highest resulting probability.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argmaxᵧ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Chooses the class y that maximizes the expression that follows.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P(y)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Prior probability — how common class y is in the training data.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P(xᵢ | y)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Likelihood — probability of observing feature xᵢ given class y.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∏ (product)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Multiplies the likelihoods of all features together (independence assumption).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19534" y="3585931"/>
            <a:ext cx="3227586" cy="188811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317333" y="358593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BAYES' THEOREM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019534" y="4069080"/>
            <a:ext cx="322758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= P(x|y)·P(y) / P(x)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is the same for every class, so it can be dropped when comparing classes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variants: Gaussian, Multinomial, Bernoulli Naive Bayes</a:t>
            </a:r>
            <a:endParaRPr lang="en-US" sz="11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22" t="33621" r="18427" b="18963"/>
          <a:stretch/>
        </p:blipFill>
        <p:spPr>
          <a:xfrm>
            <a:off x="731520" y="1440489"/>
            <a:ext cx="4445962" cy="4930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21295C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method — it builds many decision trees and combines their outputs.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is trained on a random bootstrap sample of the data (bagging).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also considers only a random subset of features, making trees less correlated.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prediction: majority vote (classification) or average (regression) across all trees.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compared to a single decision tree.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</a:t>
            </a:r>
            <a:endParaRPr lang="en-US" sz="155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(ensemble of Decision Trees)</a:t>
            </a:r>
            <a:endParaRPr lang="en-US" sz="155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1284"/>
              </p:ext>
            </p:extLst>
          </p:nvPr>
        </p:nvGraphicFramePr>
        <p:xfrm>
          <a:off x="6166021" y="365760"/>
          <a:ext cx="3546389" cy="3170584"/>
        </p:xfrm>
        <a:graphic>
          <a:graphicData uri="http://schemas.openxmlformats.org/drawingml/2006/table">
            <a:tbl>
              <a:tblPr/>
              <a:tblGrid>
                <a:gridCol w="85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Total number of decision trees in the forest.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fₜ(x)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Prediction made by the t-th individual tree for input x.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mode{...}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Majority class vote across all T trees (classification).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(1/T) Σ fₜ(x)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Average of all tree predictions (regression).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9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Bagging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Bootstrap Aggregating — training each tree on a random resampled subset.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41157" y="3766581"/>
            <a:ext cx="3091662" cy="2295887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503920" y="380352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WHY IT WORKS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55458" y="4178065"/>
            <a:ext cx="2863061" cy="179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trees may overfit and be noisy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many diverse trees cancels out individual errors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in samples + features keeps trees decorrelated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more accurate and stable than a single tree.</a:t>
            </a:r>
            <a:endParaRPr lang="en-US" sz="11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13" t="30780" r="11795" b="11316"/>
          <a:stretch/>
        </p:blipFill>
        <p:spPr>
          <a:xfrm>
            <a:off x="406229" y="1510612"/>
            <a:ext cx="4953312" cy="46801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3E4C8A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3E4C8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output is a category, most commonly a yes/no or 0/1 outcome.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predicting y directly, it models the log-odds of the outcome as a linear function of the inputs.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log-odds is converted back into a probability between 0 and 1.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coefficient tells you how the odds of the outcome change as that feature increases.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estimated using Maximum Likelihood Estimation (MLE), not least squares.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(binary outcome: 0 or 1)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3E4C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E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9116815" cy="1864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762141"/>
              </p:ext>
            </p:extLst>
          </p:nvPr>
        </p:nvGraphicFramePr>
        <p:xfrm>
          <a:off x="6331602" y="1115355"/>
          <a:ext cx="4344635" cy="2705100"/>
        </p:xfrm>
        <a:graphic>
          <a:graphicData uri="http://schemas.openxmlformats.org/drawingml/2006/table">
            <a:tbl>
              <a:tblPr/>
              <a:tblGrid>
                <a:gridCol w="1047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log(p/(1−p))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Logit — the log-odds of the outcome belonging to class 1.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p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Predicted probability that the outcome is class 1.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β₀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Intercept — baseline log-odds when all features are zero.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βᵢ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Change in log-odds for a one-unit increase in feature xᵢ.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xᵢ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Input feature values used to predict the outcome.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60471" y="4076700"/>
            <a:ext cx="2743199" cy="206407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67098" y="4138083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4C8A"/>
                </a:solidFill>
              </a:rPr>
              <a:t>READING THE RESULT</a:t>
            </a:r>
            <a:endParaRPr lang="en-US" sz="1300" dirty="0"/>
          </a:p>
        </p:txBody>
      </p:sp>
      <p:sp>
        <p:nvSpPr>
          <p:cNvPr id="8" name="Text 7"/>
          <p:cNvSpPr/>
          <p:nvPr/>
        </p:nvSpPr>
        <p:spPr>
          <a:xfrm>
            <a:off x="7014930" y="4471300"/>
            <a:ext cx="2514600" cy="145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0.5  ↔  log-odds ≥ 0  →  predict class 1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exp(βᵢ) = odds ratio for feature xᵢ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by Maximum Likelihood Estimation (MLE)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regularization is often added to prevent overfitting.</a:t>
            </a:r>
            <a:endParaRPr lang="en-US" sz="11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00" t="25317" r="15601" b="11534"/>
          <a:stretch/>
        </p:blipFill>
        <p:spPr>
          <a:xfrm>
            <a:off x="502919" y="1371600"/>
            <a:ext cx="4803523" cy="51898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899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 Models Part 2 — Mathematics &amp; Formulas</dc:title>
  <dc:subject>PptxGenJS Presentation</dc:subject>
  <dc:creator>Supervised Learning</dc:creator>
  <cp:lastModifiedBy>Dell</cp:lastModifiedBy>
  <cp:revision>6</cp:revision>
  <dcterms:created xsi:type="dcterms:W3CDTF">2026-07-08T19:30:22Z</dcterms:created>
  <dcterms:modified xsi:type="dcterms:W3CDTF">2026-07-09T06:14:32Z</dcterms:modified>
</cp:coreProperties>
</file>