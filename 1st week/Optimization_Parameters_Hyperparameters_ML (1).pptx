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B3261E"/>
            </a:solidFill>
            <a:ln w="31750" cap="flat">
              <a:solidFill>
                <a:srgbClr val="B326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12</c:v>
                </c:pt>
                <c:pt idx="2">
                  <c:v>7</c:v>
                </c:pt>
                <c:pt idx="3">
                  <c:v>15</c:v>
                </c:pt>
                <c:pt idx="4">
                  <c:v>6</c:v>
                </c:pt>
                <c:pt idx="5">
                  <c:v>18</c:v>
                </c:pt>
                <c:pt idx="6">
                  <c:v>5</c:v>
                </c:pt>
                <c:pt idx="7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6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1F8A54"/>
            </a:solidFill>
            <a:ln w="31750" cap="flat">
              <a:solidFill>
                <a:srgbClr val="1F8A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54"/>
              </a:solidFill>
              <a:ln w="9525" cap="flat">
                <a:solidFill>
                  <a:srgbClr val="1F8A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</c:v>
                </c:pt>
                <c:pt idx="1">
                  <c:v>7.2</c:v>
                </c:pt>
                <c:pt idx="2">
                  <c:v>5.4</c:v>
                </c:pt>
                <c:pt idx="3">
                  <c:v>4</c:v>
                </c:pt>
                <c:pt idx="4">
                  <c:v>3</c:v>
                </c:pt>
                <c:pt idx="5">
                  <c:v>2.3</c:v>
                </c:pt>
                <c:pt idx="6">
                  <c:v>1.8</c:v>
                </c:pt>
                <c:pt idx="7">
                  <c:v>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6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C79A2E"/>
            </a:solidFill>
            <a:ln w="31750" cap="flat">
              <a:solidFill>
                <a:srgbClr val="C79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9A2E"/>
              </a:solidFill>
              <a:ln w="9525" cap="flat">
                <a:solidFill>
                  <a:srgbClr val="C79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9.8</c:v>
                </c:pt>
                <c:pt idx="1">
                  <c:v>9.5</c:v>
                </c:pt>
                <c:pt idx="2">
                  <c:v>9.2</c:v>
                </c:pt>
                <c:pt idx="3">
                  <c:v>8.9</c:v>
                </c:pt>
                <c:pt idx="4">
                  <c:v>8.6</c:v>
                </c:pt>
                <c:pt idx="5">
                  <c:v>8.3</c:v>
                </c:pt>
                <c:pt idx="6">
                  <c:v>8</c:v>
                </c:pt>
                <c:pt idx="7">
                  <c:v>7.7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6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47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26347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Optimization, Parameters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Hyperparameters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Learn: Gradient Descent, the Math Behind It, and the Settings That Control Training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2011680" cy="0"/>
          </a:xfrm>
          <a:prstGeom prst="line">
            <a:avLst/>
          </a:prstGeom>
          <a:noFill/>
          <a:ln w="25400">
            <a:solidFill>
              <a:srgbClr val="E3B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parts: how models learn (optimization), and the settings that control that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9788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PARAMETERS &amp; HYPERPARAMETERS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02082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88" y="2073128"/>
            <a:ext cx="297729" cy="2977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30752" y="19476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6384" y="2478024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Optimization?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6384" y="26974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learn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1874520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9704" y="202082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008" y="2073128"/>
            <a:ext cx="297729" cy="29772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34072" y="19476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489704" y="2478024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Gradient Descent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489704" y="26974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202082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328" y="2073128"/>
            <a:ext cx="297729" cy="2977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37392" y="19476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193024" y="2478024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193024" y="26974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effects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40080" y="3026664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6384" y="31729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8" y="3225272"/>
            <a:ext cx="297729" cy="29772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30752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86384" y="363016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Gradient Descent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86384" y="3849624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SGD, Mini-Batch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343400" y="3026664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89704" y="31729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008" y="3225272"/>
            <a:ext cx="297729" cy="29772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34072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489704" y="363016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Adam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489704" y="3849624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optimizers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8046720" y="3026664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193024" y="31729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328" y="3225272"/>
            <a:ext cx="297729" cy="297729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137392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193024" y="363016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&amp; Convergence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8193024" y="3849624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stops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40080" y="4178808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786384" y="432511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88" y="4377416"/>
            <a:ext cx="297729" cy="297729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730752" y="425196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786384" y="4782312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Parameters?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786384" y="500176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during training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4343400" y="4178808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489704" y="432511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2008" y="4377416"/>
            <a:ext cx="297729" cy="297729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434072" y="425196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4489704" y="4782312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Hyperparameters?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4489704" y="500176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before training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8046720" y="4178808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8193024" y="432511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5328" y="4377416"/>
            <a:ext cx="297729" cy="297729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1137392" y="425196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8193024" y="4782312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1150" dirty="0"/>
          </a:p>
        </p:txBody>
      </p:sp>
      <p:sp>
        <p:nvSpPr>
          <p:cNvPr id="59" name="Text 48"/>
          <p:cNvSpPr/>
          <p:nvPr/>
        </p:nvSpPr>
        <p:spPr>
          <a:xfrm>
            <a:off x="8193024" y="500176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640080" y="5330952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786384" y="547725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688" y="5529560"/>
            <a:ext cx="297729" cy="297729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3730752" y="54041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" dirty="0"/>
          </a:p>
        </p:txBody>
      </p:sp>
      <p:sp>
        <p:nvSpPr>
          <p:cNvPr id="64" name="Text 52"/>
          <p:cNvSpPr/>
          <p:nvPr/>
        </p:nvSpPr>
        <p:spPr>
          <a:xfrm>
            <a:off x="786384" y="5934456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Hyperparameters</a:t>
            </a:r>
            <a:endParaRPr lang="en-US" sz="1150" dirty="0"/>
          </a:p>
        </p:txBody>
      </p:sp>
      <p:sp>
        <p:nvSpPr>
          <p:cNvPr id="65" name="Text 53"/>
          <p:cNvSpPr/>
          <p:nvPr/>
        </p:nvSpPr>
        <p:spPr>
          <a:xfrm>
            <a:off x="786384" y="615391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Random &amp; Bayesian search</a:t>
            </a:r>
            <a:endParaRPr lang="en-US" sz="950" dirty="0"/>
          </a:p>
        </p:txBody>
      </p:sp>
      <p:sp>
        <p:nvSpPr>
          <p:cNvPr id="66" name="Shape 54"/>
          <p:cNvSpPr/>
          <p:nvPr/>
        </p:nvSpPr>
        <p:spPr>
          <a:xfrm>
            <a:off x="4343400" y="5330952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4489704" y="547725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2008" y="5529560"/>
            <a:ext cx="297729" cy="297729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7434072" y="54041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50" dirty="0"/>
          </a:p>
        </p:txBody>
      </p:sp>
      <p:sp>
        <p:nvSpPr>
          <p:cNvPr id="70" name="Text 57"/>
          <p:cNvSpPr/>
          <p:nvPr/>
        </p:nvSpPr>
        <p:spPr>
          <a:xfrm>
            <a:off x="4489704" y="5934456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Across Models</a:t>
            </a:r>
            <a:endParaRPr lang="en-US" sz="1150" dirty="0"/>
          </a:p>
        </p:txBody>
      </p:sp>
      <p:sp>
        <p:nvSpPr>
          <p:cNvPr id="71" name="Text 58"/>
          <p:cNvSpPr/>
          <p:nvPr/>
        </p:nvSpPr>
        <p:spPr>
          <a:xfrm>
            <a:off x="4489704" y="615391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C, n_estimators &amp; more</a:t>
            </a:r>
            <a:endParaRPr lang="en-US" sz="950" dirty="0"/>
          </a:p>
        </p:txBody>
      </p:sp>
      <p:sp>
        <p:nvSpPr>
          <p:cNvPr id="72" name="Shape 59"/>
          <p:cNvSpPr/>
          <p:nvPr/>
        </p:nvSpPr>
        <p:spPr>
          <a:xfrm>
            <a:off x="8046720" y="5330952"/>
            <a:ext cx="3474720" cy="969264"/>
          </a:xfrm>
          <a:prstGeom prst="roundRect">
            <a:avLst>
              <a:gd name="adj" fmla="val 6604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19050" dir="5400000">
              <a:srgbClr val="1E2761">
                <a:alpha val="7000"/>
              </a:srgbClr>
            </a:outerShdw>
          </a:effectLst>
        </p:spPr>
      </p:sp>
      <p:sp>
        <p:nvSpPr>
          <p:cNvPr id="73" name="Shape 60"/>
          <p:cNvSpPr/>
          <p:nvPr/>
        </p:nvSpPr>
        <p:spPr>
          <a:xfrm>
            <a:off x="8193024" y="547725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5328" y="5529560"/>
            <a:ext cx="297729" cy="297729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11137392" y="54041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50" dirty="0"/>
          </a:p>
        </p:txBody>
      </p:sp>
      <p:sp>
        <p:nvSpPr>
          <p:cNvPr id="76" name="Text 62"/>
          <p:cNvSpPr/>
          <p:nvPr/>
        </p:nvSpPr>
        <p:spPr>
          <a:xfrm>
            <a:off x="8193024" y="5934456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77" name="Text 63"/>
          <p:cNvSpPr/>
          <p:nvPr/>
        </p:nvSpPr>
        <p:spPr>
          <a:xfrm>
            <a:off x="8193024" y="615391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summary</a:t>
            </a:r>
            <a:endParaRPr lang="en-US" sz="950" dirty="0"/>
          </a:p>
        </p:txBody>
      </p:sp>
      <p:sp>
        <p:nvSpPr>
          <p:cNvPr id="78" name="Text 6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Text 65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4373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2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the process that adjusts a model's internal parameters so its predictions get closer and closer to the correct answer.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is, in short, HOW a model learns.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Loop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0" y="1234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00600" y="1691640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257800" y="12161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Prediction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57800" y="152704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guesses an output using its current parameters.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21305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800600" y="2587752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257800" y="211226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Error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257800" y="24231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function calculates how wrong the prediction was.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0" y="302666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800600" y="3483864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257800" y="30083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257800" y="33192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direction in which error increases fastest.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0" y="39227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800600" y="4379976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5257800" y="39044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Parameters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5257800" y="42153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parameters slightly opposite to the gradient.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0" y="48188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257800" y="4800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5257800" y="511149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over and over until the error is minimized.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Mathematics of Gradient Descent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equation that powers almost all of machine learning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Update Rule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θ − α · ∇J(θ)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Parameter  =  Old Parameter  −  (Learning Rate × Gradient)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40233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 (weights) being learned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3063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47872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5304" y="40233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— controls the size of each step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3063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18504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∇J(θ)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18504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40233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steepest increase in the loss function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51976" y="3063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89136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J(θ)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89136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16568" y="40233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that measures how wrong the model 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words: at every step, the model nudges its parameters a little in the direction that reduces the error the fastest.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Learning Rate (α)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hyperparameter in gradient-based 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965960"/>
          <a:ext cx="3227832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70332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the minimum — diverges or oscillates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25112" y="15087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6F8FC"/>
          </a:solidFill>
          <a:ln/>
        </p:spPr>
      </p:sp>
      <p:sp>
        <p:nvSpPr>
          <p:cNvPr id="9" name="Text 6"/>
          <p:cNvSpPr/>
          <p:nvPr/>
        </p:nvSpPr>
        <p:spPr>
          <a:xfrm>
            <a:off x="4507992" y="16459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462272" y="1965960"/>
          <a:ext cx="3227832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07992" y="370332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smoothly to the minimum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10144" y="15087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6F8FC"/>
          </a:solidFill>
          <a:ln/>
        </p:spPr>
      </p:sp>
      <p:sp>
        <p:nvSpPr>
          <p:cNvPr id="13" name="Text 9"/>
          <p:cNvSpPr/>
          <p:nvPr/>
        </p:nvSpPr>
        <p:spPr>
          <a:xfrm>
            <a:off x="8193024" y="16459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</a:t>
            </a:r>
            <a:endParaRPr lang="en-US" sz="15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8147304" y="1965960"/>
          <a:ext cx="3227832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8193024" y="370332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Converges, but extremely slowly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moderate learning rate (e.g. 0.01 or 0.001), monitor the loss curve, and reduce it gradually as training progresses (“learning rate decay”).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Gradient Descent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is used to compute each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8086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231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3044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entire training dataset to compute the gradient before making a single update.</a:t>
            </a:r>
            <a:endParaRPr lang="en-US" sz="10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3192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accurate direction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4340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2976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 on large datasets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0916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466344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usage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325112" y="150876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53712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035" y="1808683"/>
            <a:ext cx="405994" cy="4059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53712" y="24231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(SGD)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53712" y="2926080"/>
            <a:ext cx="3044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just one training example at a time to update parameters.</a:t>
            </a:r>
            <a:endParaRPr lang="en-US" sz="108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397764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55464" y="393192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updates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434340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55464" y="42976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zig-zag convergence path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70916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55464" y="466344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escape shallow local minima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8010144" y="150876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8238744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0067" y="1808683"/>
            <a:ext cx="405994" cy="40599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238744" y="24231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</a:t>
            </a:r>
            <a:endParaRPr lang="en-US" sz="1450" dirty="0"/>
          </a:p>
        </p:txBody>
      </p:sp>
      <p:sp>
        <p:nvSpPr>
          <p:cNvPr id="30" name="Text 19"/>
          <p:cNvSpPr/>
          <p:nvPr/>
        </p:nvSpPr>
        <p:spPr>
          <a:xfrm>
            <a:off x="8238744" y="2926080"/>
            <a:ext cx="3044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small batch (e.g. 32–256 samples) per update — the industry standard.</a:t>
            </a:r>
            <a:endParaRPr lang="en-US" sz="108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8744" y="3977640"/>
            <a:ext cx="219456" cy="21945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540496" y="393192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of speed &amp; stability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8744" y="4343400"/>
            <a:ext cx="219456" cy="21945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540496" y="42976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on GPUs</a:t>
            </a:r>
            <a:endParaRPr lang="en-US" sz="10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8744" y="4709160"/>
            <a:ext cx="219456" cy="21945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540496" y="466344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in practice</a:t>
            </a:r>
            <a:endParaRPr lang="en-US" sz="1000" dirty="0"/>
          </a:p>
        </p:txBody>
      </p:sp>
      <p:sp>
        <p:nvSpPr>
          <p:cNvPr id="37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2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546354"/>
            <a:ext cx="507492" cy="50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50876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convergence by remembering past updates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6F8F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fraction of the previous update to the current 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up speed in directions where gradients consistently point the same way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Dampens oscillation in directions that keep flipping sign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224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βv − α∇J(θ)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θ + v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(beta) is the momentum coefficient, typically around 0.9.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ball rolling down a hill. It doesn't just respond to the current slope — it carries speed (momentum) from where it has already been, letting it roll through small bumps and reach the bottom faster.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546354"/>
            <a:ext cx="507492" cy="50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Optimizer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50876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Moment Estimation — today's default choice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1031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Momentum with an adaptive learning rate for each parameter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moving average of past gradients (1st moment)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moving average of past squared gradients (2nd moment)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speeds up or slows down each parameter's steps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β₁m + (1−β₁)∇J(θ)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β₂v + (1−β₂)∇J(θ)²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9224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θ − α · m / (√v + ε)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9224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 a tiny constant preventing division by zero.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Default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572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63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83280" y="4572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3520440" y="4663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sparse gradients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4572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4663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manual tuning needed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69680" y="4572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9006840" y="4663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noisy problems well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Convexity &amp; Convergence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shape of the loss landscape and when to stop training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Loss Function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Bowl-shaped — has exactly one minimum (global minimum)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guaranteed to find the best solution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Linear Regression, Logistic Regression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 Loss Function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hills &amp; valleys — several local minima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may get stuck in a local (not global) minimum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Deep Neural Networks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Training Converge?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∇J(θ) approaches zero — no direction left to improve, 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in loss between iterations becomes negligibly small, or a maximum number of iterations is reached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 Comparison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optimization technique depends on data size and problem complexity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1737360"/>
                <a:gridCol w="173736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/ Update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Batch GD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Entire dataset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Very stable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Small datasets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SGD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One sample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Fast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Noisy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Online learning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Mini-Batch GD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Small batch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Balanced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Balanced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General purpose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Momentum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Mini-batch + history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Fast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Smooth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Faster convergence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Adam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Mini-batch + adaptive 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Fastest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Very stable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Deep learning (default)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Mini-Batch GD as your default; add Momentum or switch to Adam when training deep networks for faster, more reliable convergence.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47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263479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965960"/>
            <a:ext cx="914400" cy="914400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084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&amp; Hyperparameters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where they're used, and why they matter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4373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</a:t>
            </a:r>
            <a:endParaRPr lang="en-US" sz="2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the internal values a model learns automatically from the training data. They define what the model has “figured out.”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model, DURING training.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594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0" y="1280160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1179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46320" y="14904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 of the connection/influence each input feature has on the output.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0" y="2121408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202082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(b)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46320" y="2331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offset value that shifts the model's output, independent of the input.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2962656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86207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linear/logistic regression, the values multiplying each feature.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0" y="3803904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7033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846320" y="401421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SVM, the specific data points that define the decision boundary.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0" y="4645152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45445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Thresholds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846320" y="485546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decision trees, the learned cutoff values used at each node.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0" y="5440680"/>
            <a:ext cx="644652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555955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ŷ = w₁x₁ + w₂x₂ + b — w₁, w₂, and b are all parameters the model learns.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4373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</a:t>
            </a:r>
            <a:endParaRPr lang="en-US" sz="2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settings chosen by the practitioner before training starts. They control HOW the model learns, not what it learns.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developer, BEFORE training.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594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0" y="1280160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1179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(α)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46320" y="148132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step the optimizer takes on each update.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039112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9385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Epochs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46320" y="2240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the model passes over the entire training dataset.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798064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6974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46320" y="299923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samples are used to compute each gradient update.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3557016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45643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(in KNN)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846320" y="37581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neighbors are checked to make a prediction.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4315968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421538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&amp; Gamma (in SVM)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46320" y="451713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margin strictness and the reach of the kernel.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5074920"/>
            <a:ext cx="128016" cy="12801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497433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 (Random Forest)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846320" y="527608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decision trees are built in the ensemble.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 Hyperparameters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kinds of values — easy to confuse, important to distinguish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Parameters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Hyperparameters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Who sets 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The model (learned automatically)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The developer / practitioner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When it's 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During training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Before training begins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Defines what the model has learned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Controls how the learning process happens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Weights, bias, coefficients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Learning rate, epochs, K, C, batch size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Can it change during training?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Yes — updated every iteration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No — fixed unless manually re-tuned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How it's chosen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Optimization algorithm (e.g. gradient descent)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Experimentation / search (grid, random, Bayesian)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way to remember: parameters are the answers the model finds; hyperparameters are the rules you give it for finding them.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&amp; Where Hyperparameter Tuning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settings can be the difference between a poor model and a great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hyperparameters can cause underfitting, overfitting, painfully slow training, or a model that never converges at all — even with a perfectly good algorithm and dataset.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Tuning Methods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566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362559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358444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411480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every combination from a predefined set of values. Thorough but slow.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5112" y="338328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3566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6" y="362559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48072" y="358444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26280" y="411480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random combinations. Faster than grid search, often just as effective.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10144" y="338328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1312" y="3566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362559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33104" y="358444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11312" y="411480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past results to intelligently choose the next values to try.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tuning happens: cross-validation is typically used alongside these search methods to test each combination fairly, without overfitting to a single train/test split.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 Across Common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settings show up in practice, and why each one matters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120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Key Hyperparameter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KNN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K (number of neighbors)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Small K → noisy/overfit; large K → smoother/underfit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SVM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C (regularization), Gamma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C controls margin strictness; gamma controls kernel reach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n_estimators, max_depth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More/deeper trees can improve accuracy but risk overfitting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Neural Networks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Learning rate, epochs, batch size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Directly controls speed and stability of convergence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Gradient Boosting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Learning rate, n_estimators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Trade-off between training speed and accuracy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Interview-ready line: “Hyperparameters are tuned outside the learning algorithm — usually via validation performance — to get the best possible model.”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47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93776" cy="493776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151" y="1344351"/>
            <a:ext cx="365394" cy="3653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5272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drives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5544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(θ = θ − α∇J(θ)) adjusts parameters to minimize loss.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493776" cy="493776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51" y="2167311"/>
            <a:ext cx="365394" cy="3653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07568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is critical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3774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overshoots; too low is painfully slow — tune it carefully.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2926080"/>
            <a:ext cx="493776" cy="493776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51" y="2990271"/>
            <a:ext cx="365394" cy="3653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8986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is the practical default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32004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momentum and adaptive learning rates for fast, stable training.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" y="3749040"/>
            <a:ext cx="493776" cy="493776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51" y="3813231"/>
            <a:ext cx="365394" cy="3653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72160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learned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54480" y="40233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biases are found automatically during training.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22960" y="4572000"/>
            <a:ext cx="493776" cy="493776"/>
          </a:xfrm>
          <a:prstGeom prst="ellipse">
            <a:avLst/>
          </a:prstGeom>
          <a:solidFill>
            <a:srgbClr val="35408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51" y="4636191"/>
            <a:ext cx="365394" cy="3653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54456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chosen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554480" y="48463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K, C, and batch size are set before training and tuned via search.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22960" y="5532120"/>
            <a:ext cx="2011680" cy="0"/>
          </a:xfrm>
          <a:prstGeom prst="line">
            <a:avLst/>
          </a:prstGeom>
          <a:noFill/>
          <a:ln w="25400">
            <a:solidFill>
              <a:srgbClr val="E3B23C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22960" y="5669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Parameters &amp; Hyperparameters in 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Optimization, Parameters &amp; Hyperparameters in Machine Learning</dc:title>
  <dc:subject>PptxGenJS Presentation</dc:subject>
  <dc:creator>Optimization in ML</dc:creator>
  <cp:lastModifiedBy>Optimization in ML</cp:lastModifiedBy>
  <cp:revision>1</cp:revision>
  <dcterms:created xsi:type="dcterms:W3CDTF">2026-07-08T06:17:52Z</dcterms:created>
  <dcterms:modified xsi:type="dcterms:W3CDTF">2026-07-08T06:17:52Z</dcterms:modified>
</cp:coreProperties>
</file>