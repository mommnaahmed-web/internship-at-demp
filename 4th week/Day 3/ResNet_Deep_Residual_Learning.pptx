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4" d="100"/>
          <a:sy n="104" d="100"/>
        </p:scale>
        <p:origin x="426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520909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B8956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371600"/>
            <a:ext cx="80467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2C24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DEEP RESIDUAL LEARNING</a:t>
            </a:r>
            <a:endParaRPr lang="en-US" sz="3600" dirty="0"/>
          </a:p>
          <a:p>
            <a:pPr marL="0" indent="0" algn="l">
              <a:buNone/>
            </a:pPr>
            <a:r>
              <a:rPr lang="en-US" sz="3600" b="1" dirty="0">
                <a:solidFill>
                  <a:srgbClr val="2C24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FOR IMAGE RECOGNITION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48640" y="30175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C4E3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Kaiming He, Xiangyu Zhang, Shaoqing Ren, Jian Sun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5C4E3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Microsoft Research  •  CVPR 2016 (arXiv 2015)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40233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8A7A6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 landmark paper that made extremely deep networks trainable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C24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AGENDA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777240"/>
            <a:ext cx="1371600" cy="36576"/>
          </a:xfrm>
          <a:prstGeom prst="rect">
            <a:avLst/>
          </a:prstGeom>
          <a:solidFill>
            <a:srgbClr val="B8956A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18872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B8956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188720" y="118872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C241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Problem Statement &amp; Motivation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188720" y="150876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C4E3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Why deeper networks fail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233172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B8956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188720" y="233172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C241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Residual Learning &amp; Skip Connections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188720" y="265176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C4E3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The core idea and mechanism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7200" y="347472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B8956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188720" y="347472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C241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ResNet Architecture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188720" y="379476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C4E3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Building blocks and network variants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754880" y="118872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B8956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5486400" y="118872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C241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Experimental Results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5486400" y="150876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C4E3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ImageNet, CIFAR-10, detection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754880" y="233172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B8956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5486400" y="233172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C241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Advantages, Limitations &amp; Applications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5486400" y="265176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C4E3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Impact and practical use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754880" y="347472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B8956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06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5486400" y="347472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C241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Critical Analysis &amp; Literature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5486400" y="379476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C4E3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Strengths, weaknesses, context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C24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PROBLEM STATEMENT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868680"/>
            <a:ext cx="4114800" cy="1920240"/>
          </a:xfrm>
          <a:prstGeom prst="roundRect">
            <a:avLst>
              <a:gd name="adj" fmla="val 3810"/>
            </a:avLst>
          </a:prstGeom>
          <a:solidFill>
            <a:srgbClr val="EFE9DD"/>
          </a:solidFill>
          <a:ln/>
        </p:spPr>
      </p:sp>
      <p:sp>
        <p:nvSpPr>
          <p:cNvPr id="6" name="Text 3"/>
          <p:cNvSpPr/>
          <p:nvPr/>
        </p:nvSpPr>
        <p:spPr>
          <a:xfrm>
            <a:off x="914400" y="1024128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C241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The Degradation Problem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502920" y="1417320"/>
            <a:ext cx="3840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C4E3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As networks get deeper, training error increases — not from overfitting, but from optimization difficulty. A 34-layer plain net has higher training error than an 18-layer one.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365760" y="2926080"/>
            <a:ext cx="4114800" cy="1828800"/>
          </a:xfrm>
          <a:prstGeom prst="roundRect">
            <a:avLst>
              <a:gd name="adj" fmla="val 4000"/>
            </a:avLst>
          </a:prstGeom>
          <a:solidFill>
            <a:srgbClr val="EFE9DD"/>
          </a:solidFill>
          <a:ln/>
        </p:spPr>
      </p:sp>
      <p:sp>
        <p:nvSpPr>
          <p:cNvPr id="10" name="Text 6"/>
          <p:cNvSpPr/>
          <p:nvPr/>
        </p:nvSpPr>
        <p:spPr>
          <a:xfrm>
            <a:off x="914400" y="3081528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C241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Core Challenge</a:t>
            </a:r>
            <a:endParaRPr lang="en-US" sz="1400" dirty="0"/>
          </a:p>
        </p:txBody>
      </p:sp>
      <p:sp>
        <p:nvSpPr>
          <p:cNvPr id="11" name="Text 7"/>
          <p:cNvSpPr/>
          <p:nvPr/>
        </p:nvSpPr>
        <p:spPr>
          <a:xfrm>
            <a:off x="502920" y="3474720"/>
            <a:ext cx="3840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C4E3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How can we build networks that are both very deep and easy to optimize? Identity mappings should be easy, yet plain nets struggle to learn them.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4709160" y="868680"/>
            <a:ext cx="4069080" cy="3886200"/>
          </a:xfrm>
          <a:prstGeom prst="roundRect">
            <a:avLst>
              <a:gd name="adj" fmla="val 1882"/>
            </a:avLst>
          </a:prstGeom>
          <a:solidFill>
            <a:srgbClr val="FFFFFF"/>
          </a:solidFill>
          <a:ln w="12700">
            <a:solidFill>
              <a:srgbClr val="D9CFB8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4846320" y="1005840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C241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Conceptual Training Error vs Depth</a:t>
            </a:r>
            <a:endParaRPr lang="en-US" sz="1200" dirty="0"/>
          </a:p>
        </p:txBody>
      </p:sp>
      <p:sp>
        <p:nvSpPr>
          <p:cNvPr id="14" name="Text 10"/>
          <p:cNvSpPr/>
          <p:nvPr/>
        </p:nvSpPr>
        <p:spPr>
          <a:xfrm>
            <a:off x="4800600" y="18288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A7A6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Training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8A7A6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Error</a:t>
            </a:r>
            <a:endParaRPr lang="en-US" sz="1000" dirty="0"/>
          </a:p>
        </p:txBody>
      </p:sp>
      <p:sp>
        <p:nvSpPr>
          <p:cNvPr id="15" name="Shape 11"/>
          <p:cNvSpPr/>
          <p:nvPr/>
        </p:nvSpPr>
        <p:spPr>
          <a:xfrm>
            <a:off x="5577840" y="1463040"/>
            <a:ext cx="22860" cy="2560320"/>
          </a:xfrm>
          <a:prstGeom prst="rect">
            <a:avLst/>
          </a:prstGeom>
          <a:solidFill>
            <a:srgbClr val="8A7A62"/>
          </a:solidFill>
          <a:ln/>
        </p:spPr>
      </p:sp>
      <p:sp>
        <p:nvSpPr>
          <p:cNvPr id="16" name="Shape 12"/>
          <p:cNvSpPr/>
          <p:nvPr/>
        </p:nvSpPr>
        <p:spPr>
          <a:xfrm>
            <a:off x="5577840" y="4023360"/>
            <a:ext cx="2926080" cy="22860"/>
          </a:xfrm>
          <a:prstGeom prst="rect">
            <a:avLst/>
          </a:prstGeom>
          <a:solidFill>
            <a:srgbClr val="8A7A62"/>
          </a:solidFill>
          <a:ln/>
        </p:spPr>
      </p:sp>
      <p:sp>
        <p:nvSpPr>
          <p:cNvPr id="17" name="Shape 13"/>
          <p:cNvSpPr/>
          <p:nvPr/>
        </p:nvSpPr>
        <p:spPr>
          <a:xfrm>
            <a:off x="5943600" y="3200400"/>
            <a:ext cx="502920" cy="822960"/>
          </a:xfrm>
          <a:prstGeom prst="rect">
            <a:avLst/>
          </a:prstGeom>
          <a:solidFill>
            <a:srgbClr val="C62828"/>
          </a:solidFill>
          <a:ln/>
        </p:spPr>
      </p:sp>
      <p:sp>
        <p:nvSpPr>
          <p:cNvPr id="18" name="Text 14"/>
          <p:cNvSpPr/>
          <p:nvPr/>
        </p:nvSpPr>
        <p:spPr>
          <a:xfrm>
            <a:off x="5943600" y="4114800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A7A6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18</a:t>
            </a:r>
            <a:endParaRPr lang="en-US" sz="1000" dirty="0"/>
          </a:p>
        </p:txBody>
      </p:sp>
      <p:sp>
        <p:nvSpPr>
          <p:cNvPr id="19" name="Shape 15"/>
          <p:cNvSpPr/>
          <p:nvPr/>
        </p:nvSpPr>
        <p:spPr>
          <a:xfrm>
            <a:off x="6675120" y="2377440"/>
            <a:ext cx="502920" cy="1645920"/>
          </a:xfrm>
          <a:prstGeom prst="rect">
            <a:avLst/>
          </a:prstGeom>
          <a:solidFill>
            <a:srgbClr val="C62828"/>
          </a:solidFill>
          <a:ln/>
        </p:spPr>
      </p:sp>
      <p:sp>
        <p:nvSpPr>
          <p:cNvPr id="20" name="Text 16"/>
          <p:cNvSpPr/>
          <p:nvPr/>
        </p:nvSpPr>
        <p:spPr>
          <a:xfrm>
            <a:off x="6675120" y="4114800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A7A6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34</a:t>
            </a:r>
            <a:endParaRPr lang="en-US" sz="1000" dirty="0"/>
          </a:p>
        </p:txBody>
      </p:sp>
      <p:sp>
        <p:nvSpPr>
          <p:cNvPr id="21" name="Shape 17"/>
          <p:cNvSpPr/>
          <p:nvPr/>
        </p:nvSpPr>
        <p:spPr>
          <a:xfrm>
            <a:off x="7498080" y="3017520"/>
            <a:ext cx="502920" cy="1005840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22" name="Text 18"/>
          <p:cNvSpPr/>
          <p:nvPr/>
        </p:nvSpPr>
        <p:spPr>
          <a:xfrm>
            <a:off x="7498080" y="4114800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A7A6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18</a:t>
            </a:r>
            <a:endParaRPr lang="en-US" sz="1000" dirty="0"/>
          </a:p>
        </p:txBody>
      </p:sp>
      <p:sp>
        <p:nvSpPr>
          <p:cNvPr id="23" name="Shape 19"/>
          <p:cNvSpPr/>
          <p:nvPr/>
        </p:nvSpPr>
        <p:spPr>
          <a:xfrm>
            <a:off x="8229600" y="2651760"/>
            <a:ext cx="502920" cy="1371600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24" name="Text 20"/>
          <p:cNvSpPr/>
          <p:nvPr/>
        </p:nvSpPr>
        <p:spPr>
          <a:xfrm>
            <a:off x="8229600" y="4114800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A7A6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34</a:t>
            </a:r>
            <a:endParaRPr lang="en-US" sz="1000" dirty="0"/>
          </a:p>
        </p:txBody>
      </p:sp>
      <p:sp>
        <p:nvSpPr>
          <p:cNvPr id="25" name="Shape 21"/>
          <p:cNvSpPr/>
          <p:nvPr/>
        </p:nvSpPr>
        <p:spPr>
          <a:xfrm>
            <a:off x="5760720" y="4434840"/>
            <a:ext cx="228600" cy="164592"/>
          </a:xfrm>
          <a:prstGeom prst="rect">
            <a:avLst/>
          </a:prstGeom>
          <a:solidFill>
            <a:srgbClr val="C62828"/>
          </a:solidFill>
          <a:ln/>
        </p:spPr>
      </p:sp>
      <p:sp>
        <p:nvSpPr>
          <p:cNvPr id="26" name="Text 22"/>
          <p:cNvSpPr/>
          <p:nvPr/>
        </p:nvSpPr>
        <p:spPr>
          <a:xfrm>
            <a:off x="6035040" y="440740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C4E3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Plain Net</a:t>
            </a:r>
            <a:endParaRPr lang="en-US" sz="1000" dirty="0"/>
          </a:p>
        </p:txBody>
      </p:sp>
      <p:sp>
        <p:nvSpPr>
          <p:cNvPr id="27" name="Shape 23"/>
          <p:cNvSpPr/>
          <p:nvPr/>
        </p:nvSpPr>
        <p:spPr>
          <a:xfrm>
            <a:off x="7223760" y="4434840"/>
            <a:ext cx="228600" cy="164592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28" name="Text 24"/>
          <p:cNvSpPr/>
          <p:nvPr/>
        </p:nvSpPr>
        <p:spPr>
          <a:xfrm>
            <a:off x="7498080" y="4407408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C4E3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ResNet (lower is better)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C24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MOTIVATION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2743200" cy="3383280"/>
          </a:xfrm>
          <a:prstGeom prst="roundRect">
            <a:avLst>
              <a:gd name="adj" fmla="val 3333"/>
            </a:avLst>
          </a:prstGeom>
          <a:solidFill>
            <a:srgbClr val="EFE9DD"/>
          </a:solidFill>
          <a:ln/>
        </p:spPr>
      </p:sp>
      <p:sp>
        <p:nvSpPr>
          <p:cNvPr id="6" name="Text 3"/>
          <p:cNvSpPr/>
          <p:nvPr/>
        </p:nvSpPr>
        <p:spPr>
          <a:xfrm>
            <a:off x="640080" y="1416859"/>
            <a:ext cx="2377440" cy="7412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C241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Depth Matters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685800" y="2651760"/>
            <a:ext cx="22860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5C4E3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Deeper representations are crucial for visual recognition. VGG showed gains from depth, but further stacking failed.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3337560" y="1097280"/>
            <a:ext cx="2743200" cy="3383280"/>
          </a:xfrm>
          <a:prstGeom prst="roundRect">
            <a:avLst>
              <a:gd name="adj" fmla="val 3333"/>
            </a:avLst>
          </a:prstGeom>
          <a:solidFill>
            <a:srgbClr val="EFE9DD"/>
          </a:solidFill>
          <a:ln/>
        </p:spPr>
      </p:sp>
      <p:sp>
        <p:nvSpPr>
          <p:cNvPr id="10" name="Text 6"/>
          <p:cNvSpPr/>
          <p:nvPr/>
        </p:nvSpPr>
        <p:spPr>
          <a:xfrm>
            <a:off x="3474720" y="1499293"/>
            <a:ext cx="2377440" cy="5763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C241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Identity by Construction</a:t>
            </a:r>
            <a:endParaRPr lang="en-US" sz="1500" dirty="0"/>
          </a:p>
        </p:txBody>
      </p:sp>
      <p:sp>
        <p:nvSpPr>
          <p:cNvPr id="11" name="Text 7"/>
          <p:cNvSpPr/>
          <p:nvPr/>
        </p:nvSpPr>
        <p:spPr>
          <a:xfrm>
            <a:off x="3566160" y="2651760"/>
            <a:ext cx="22860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5C4E3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If identity mappings are optimal, a deeper model should not have higher training error than a shallower one.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6217920" y="1097280"/>
            <a:ext cx="2743200" cy="3383280"/>
          </a:xfrm>
          <a:prstGeom prst="roundRect">
            <a:avLst>
              <a:gd name="adj" fmla="val 3333"/>
            </a:avLst>
          </a:prstGeom>
          <a:solidFill>
            <a:srgbClr val="EFE9DD"/>
          </a:solidFill>
          <a:ln/>
        </p:spPr>
      </p:sp>
      <p:sp>
        <p:nvSpPr>
          <p:cNvPr id="14" name="Text 9"/>
          <p:cNvSpPr/>
          <p:nvPr/>
        </p:nvSpPr>
        <p:spPr>
          <a:xfrm>
            <a:off x="6355080" y="1527002"/>
            <a:ext cx="2377440" cy="5564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C241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Reformulate the Learning</a:t>
            </a:r>
            <a:endParaRPr lang="en-US" sz="1500" dirty="0"/>
          </a:p>
        </p:txBody>
      </p:sp>
      <p:sp>
        <p:nvSpPr>
          <p:cNvPr id="15" name="Text 10"/>
          <p:cNvSpPr/>
          <p:nvPr/>
        </p:nvSpPr>
        <p:spPr>
          <a:xfrm>
            <a:off x="6446520" y="2651760"/>
            <a:ext cx="22860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5C4E3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Instead of hoping layers learn identity, explicitly let them learn residual functions with reference to the input.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C24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RESIDUAL LEARNING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731520"/>
            <a:ext cx="8412480" cy="1051560"/>
          </a:xfrm>
          <a:prstGeom prst="roundRect">
            <a:avLst>
              <a:gd name="adj" fmla="val 6957"/>
            </a:avLst>
          </a:prstGeom>
          <a:solidFill>
            <a:srgbClr val="EFE9DD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822960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B8956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Key Reformulation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" y="1097280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C4E3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Desired mapping  H(x)   →   learn residual  F(x) = H(x) − x   →   recover via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137160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C24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H(x)  =  F(x)  +  x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365760" y="1965960"/>
            <a:ext cx="4069080" cy="2880360"/>
          </a:xfrm>
          <a:prstGeom prst="roundRect">
            <a:avLst>
              <a:gd name="adj" fmla="val 2540"/>
            </a:avLst>
          </a:prstGeom>
          <a:solidFill>
            <a:srgbClr val="FFFFFF"/>
          </a:solidFill>
          <a:ln w="12700">
            <a:solidFill>
              <a:srgbClr val="D9CFB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65760" y="1965960"/>
            <a:ext cx="4069080" cy="365760"/>
          </a:xfrm>
          <a:prstGeom prst="rect">
            <a:avLst/>
          </a:prstGeom>
          <a:solidFill>
            <a:srgbClr val="C62828"/>
          </a:solidFill>
          <a:ln/>
        </p:spPr>
      </p:sp>
      <p:sp>
        <p:nvSpPr>
          <p:cNvPr id="10" name="Text 8"/>
          <p:cNvSpPr/>
          <p:nvPr/>
        </p:nvSpPr>
        <p:spPr>
          <a:xfrm>
            <a:off x="365760" y="2011680"/>
            <a:ext cx="4069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PLAIN NETWORK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48640" y="2514600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C241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x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051560" y="2514600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8A7A6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→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1554480" y="2514600"/>
            <a:ext cx="640080" cy="365760"/>
          </a:xfrm>
          <a:prstGeom prst="roundRect">
            <a:avLst>
              <a:gd name="adj" fmla="val 12500"/>
            </a:avLst>
          </a:prstGeom>
          <a:solidFill>
            <a:srgbClr val="2C2416"/>
          </a:solidFill>
          <a:ln/>
        </p:spPr>
      </p:sp>
      <p:sp>
        <p:nvSpPr>
          <p:cNvPr id="14" name="Text 12"/>
          <p:cNvSpPr/>
          <p:nvPr/>
        </p:nvSpPr>
        <p:spPr>
          <a:xfrm>
            <a:off x="1554480" y="251460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W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057400" y="2514600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8A7A6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→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2560320" y="2514600"/>
            <a:ext cx="640080" cy="365760"/>
          </a:xfrm>
          <a:prstGeom prst="roundRect">
            <a:avLst>
              <a:gd name="adj" fmla="val 12500"/>
            </a:avLst>
          </a:prstGeom>
          <a:solidFill>
            <a:srgbClr val="2C2416"/>
          </a:solidFill>
          <a:ln/>
        </p:spPr>
      </p:sp>
      <p:sp>
        <p:nvSpPr>
          <p:cNvPr id="17" name="Text 15"/>
          <p:cNvSpPr/>
          <p:nvPr/>
        </p:nvSpPr>
        <p:spPr>
          <a:xfrm>
            <a:off x="2560320" y="251460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W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063240" y="2514600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8A7A6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→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3566160" y="2514600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C241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H(x)?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48640" y="3063240"/>
            <a:ext cx="37033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C4E3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Must learn the full mapping H(x).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5C4E3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If identity is optimal, solver must force layers to produce identity — hard in deep stacks.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5C4E3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Result: degradation with depth.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709160" y="1965960"/>
            <a:ext cx="4069080" cy="2880360"/>
          </a:xfrm>
          <a:prstGeom prst="roundRect">
            <a:avLst>
              <a:gd name="adj" fmla="val 2540"/>
            </a:avLst>
          </a:prstGeom>
          <a:solidFill>
            <a:srgbClr val="FFFFFF"/>
          </a:solidFill>
          <a:ln w="19050">
            <a:solidFill>
              <a:srgbClr val="B8956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709160" y="1965960"/>
            <a:ext cx="4069080" cy="365760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23" name="Text 21"/>
          <p:cNvSpPr/>
          <p:nvPr/>
        </p:nvSpPr>
        <p:spPr>
          <a:xfrm>
            <a:off x="4709160" y="2011680"/>
            <a:ext cx="4069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RESIDUAL NETWORK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846320" y="2514600"/>
            <a:ext cx="3794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C241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x  →  [ F(x) ]  +  x  →  H(x)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4892040" y="3063240"/>
            <a:ext cx="37033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C4E3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Learn residual F(x) = H(x) − x.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5C4E3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If identity is optimal, residual → 0 (easy: drive weights toward zero).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5C4E3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Result: depth becomes beneficial.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3716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C24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SKIP CONNECTIONS  —  Residual Building Block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685800"/>
            <a:ext cx="8412480" cy="3108960"/>
          </a:xfrm>
          <a:prstGeom prst="roundRect">
            <a:avLst>
              <a:gd name="adj" fmla="val 2941"/>
            </a:avLst>
          </a:prstGeom>
          <a:solidFill>
            <a:srgbClr val="FFFFFF"/>
          </a:solidFill>
          <a:ln w="12700">
            <a:solidFill>
              <a:srgbClr val="D9CFB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828800"/>
            <a:ext cx="1097280" cy="640080"/>
          </a:xfrm>
          <a:prstGeom prst="roundRect">
            <a:avLst>
              <a:gd name="adj" fmla="val 11429"/>
            </a:avLst>
          </a:prstGeom>
          <a:solidFill>
            <a:srgbClr val="EFE9DD"/>
          </a:solidFill>
          <a:ln w="25400">
            <a:solidFill>
              <a:srgbClr val="B8956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9202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2C24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x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1828800" y="2011680"/>
            <a:ext cx="411480" cy="274320"/>
          </a:xfrm>
          <a:prstGeom prst="rightArrow">
            <a:avLst/>
          </a:prstGeom>
          <a:solidFill>
            <a:srgbClr val="B8956A"/>
          </a:solidFill>
          <a:ln/>
        </p:spPr>
      </p:sp>
      <p:sp>
        <p:nvSpPr>
          <p:cNvPr id="8" name="Shape 6"/>
          <p:cNvSpPr/>
          <p:nvPr/>
        </p:nvSpPr>
        <p:spPr>
          <a:xfrm>
            <a:off x="2331720" y="1051560"/>
            <a:ext cx="2011680" cy="457200"/>
          </a:xfrm>
          <a:prstGeom prst="roundRect">
            <a:avLst>
              <a:gd name="adj" fmla="val 12000"/>
            </a:avLst>
          </a:prstGeom>
          <a:solidFill>
            <a:srgbClr val="2C2416"/>
          </a:solidFill>
          <a:ln/>
        </p:spPr>
      </p:sp>
      <p:sp>
        <p:nvSpPr>
          <p:cNvPr id="9" name="Text 7"/>
          <p:cNvSpPr/>
          <p:nvPr/>
        </p:nvSpPr>
        <p:spPr>
          <a:xfrm>
            <a:off x="2331720" y="109728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Conv / FC  (W₁)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331720" y="1600200"/>
            <a:ext cx="2011680" cy="411480"/>
          </a:xfrm>
          <a:prstGeom prst="roundRect">
            <a:avLst>
              <a:gd name="adj" fmla="val 13333"/>
            </a:avLst>
          </a:prstGeom>
          <a:solidFill>
            <a:srgbClr val="4A3F2E"/>
          </a:solidFill>
          <a:ln/>
        </p:spPr>
      </p:sp>
      <p:sp>
        <p:nvSpPr>
          <p:cNvPr id="11" name="Text 9"/>
          <p:cNvSpPr/>
          <p:nvPr/>
        </p:nvSpPr>
        <p:spPr>
          <a:xfrm>
            <a:off x="2331720" y="164592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BatchNorm + ReLU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331720" y="2103120"/>
            <a:ext cx="2011680" cy="457200"/>
          </a:xfrm>
          <a:prstGeom prst="roundRect">
            <a:avLst>
              <a:gd name="adj" fmla="val 12000"/>
            </a:avLst>
          </a:prstGeom>
          <a:solidFill>
            <a:srgbClr val="2C2416"/>
          </a:solidFill>
          <a:ln/>
        </p:spPr>
      </p:sp>
      <p:sp>
        <p:nvSpPr>
          <p:cNvPr id="13" name="Text 11"/>
          <p:cNvSpPr/>
          <p:nvPr/>
        </p:nvSpPr>
        <p:spPr>
          <a:xfrm>
            <a:off x="2331720" y="214884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Conv / FC  (W₂)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2331720" y="2651760"/>
            <a:ext cx="2011680" cy="365760"/>
          </a:xfrm>
          <a:prstGeom prst="roundRect">
            <a:avLst>
              <a:gd name="adj" fmla="val 15000"/>
            </a:avLst>
          </a:prstGeom>
          <a:solidFill>
            <a:srgbClr val="4A3F2E"/>
          </a:solidFill>
          <a:ln/>
        </p:spPr>
      </p:sp>
      <p:sp>
        <p:nvSpPr>
          <p:cNvPr id="15" name="Text 13"/>
          <p:cNvSpPr/>
          <p:nvPr/>
        </p:nvSpPr>
        <p:spPr>
          <a:xfrm>
            <a:off x="2331720" y="269748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BatchNorm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331720" y="31089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B8956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F(x)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4480560" y="2011680"/>
            <a:ext cx="411480" cy="274320"/>
          </a:xfrm>
          <a:prstGeom prst="rightArrow">
            <a:avLst/>
          </a:prstGeom>
          <a:solidFill>
            <a:srgbClr val="B8956A"/>
          </a:solidFill>
          <a:ln/>
        </p:spPr>
      </p:sp>
      <p:sp>
        <p:nvSpPr>
          <p:cNvPr id="18" name="Shape 16"/>
          <p:cNvSpPr/>
          <p:nvPr/>
        </p:nvSpPr>
        <p:spPr>
          <a:xfrm>
            <a:off x="5029200" y="1783080"/>
            <a:ext cx="777240" cy="777240"/>
          </a:xfrm>
          <a:prstGeom prst="ellipse">
            <a:avLst/>
          </a:prstGeom>
          <a:solidFill>
            <a:srgbClr val="B8956A"/>
          </a:solidFill>
          <a:ln/>
        </p:spPr>
      </p:sp>
      <p:sp>
        <p:nvSpPr>
          <p:cNvPr id="19" name="Text 17"/>
          <p:cNvSpPr/>
          <p:nvPr/>
        </p:nvSpPr>
        <p:spPr>
          <a:xfrm>
            <a:off x="5029200" y="1874520"/>
            <a:ext cx="777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</a:t>
            </a:r>
            <a:endParaRPr lang="en-US" sz="2800" dirty="0"/>
          </a:p>
        </p:txBody>
      </p:sp>
      <p:sp>
        <p:nvSpPr>
          <p:cNvPr id="20" name="Shape 18"/>
          <p:cNvSpPr/>
          <p:nvPr/>
        </p:nvSpPr>
        <p:spPr>
          <a:xfrm>
            <a:off x="1143000" y="3383280"/>
            <a:ext cx="54864" cy="320040"/>
          </a:xfrm>
          <a:prstGeom prst="rect">
            <a:avLst/>
          </a:prstGeom>
          <a:solidFill>
            <a:srgbClr val="B8956A"/>
          </a:solidFill>
          <a:ln/>
        </p:spPr>
      </p:sp>
      <p:sp>
        <p:nvSpPr>
          <p:cNvPr id="21" name="Shape 19"/>
          <p:cNvSpPr/>
          <p:nvPr/>
        </p:nvSpPr>
        <p:spPr>
          <a:xfrm>
            <a:off x="1143000" y="3657600"/>
            <a:ext cx="4297680" cy="54864"/>
          </a:xfrm>
          <a:prstGeom prst="rect">
            <a:avLst/>
          </a:prstGeom>
          <a:solidFill>
            <a:srgbClr val="B8956A"/>
          </a:solidFill>
          <a:ln/>
        </p:spPr>
      </p:sp>
      <p:sp>
        <p:nvSpPr>
          <p:cNvPr id="22" name="Shape 20"/>
          <p:cNvSpPr/>
          <p:nvPr/>
        </p:nvSpPr>
        <p:spPr>
          <a:xfrm>
            <a:off x="5385816" y="2560320"/>
            <a:ext cx="54864" cy="1152144"/>
          </a:xfrm>
          <a:prstGeom prst="rect">
            <a:avLst/>
          </a:prstGeom>
          <a:solidFill>
            <a:srgbClr val="B8956A"/>
          </a:solidFill>
          <a:ln/>
        </p:spPr>
      </p:sp>
      <p:sp>
        <p:nvSpPr>
          <p:cNvPr id="23" name="Text 21"/>
          <p:cNvSpPr/>
          <p:nvPr/>
        </p:nvSpPr>
        <p:spPr>
          <a:xfrm>
            <a:off x="2103120" y="342900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B8956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identity shortcut  (skip connection)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943600" y="2011680"/>
            <a:ext cx="411480" cy="274320"/>
          </a:xfrm>
          <a:prstGeom prst="rightArrow">
            <a:avLst/>
          </a:prstGeom>
          <a:solidFill>
            <a:srgbClr val="B8956A"/>
          </a:solidFill>
          <a:ln/>
        </p:spPr>
      </p:sp>
      <p:sp>
        <p:nvSpPr>
          <p:cNvPr id="25" name="Shape 23"/>
          <p:cNvSpPr/>
          <p:nvPr/>
        </p:nvSpPr>
        <p:spPr>
          <a:xfrm>
            <a:off x="6492240" y="1691640"/>
            <a:ext cx="1920240" cy="914400"/>
          </a:xfrm>
          <a:prstGeom prst="roundRect">
            <a:avLst>
              <a:gd name="adj" fmla="val 8000"/>
            </a:avLst>
          </a:prstGeom>
          <a:solidFill>
            <a:srgbClr val="EFE9DD"/>
          </a:solidFill>
          <a:ln w="25400">
            <a:solidFill>
              <a:srgbClr val="B8956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92240" y="178308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C241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F(x) + x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2C241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↓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2C241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ReLU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365760" y="393192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A7A6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Identity shortcuts add neither parameters nor computational complexity. When dimensions differ, a linear projection Ws x is used.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365760" y="425196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2C241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 = F(x, {Wᵢ}) + x     or     y = F(x, {Wᵢ}) + Wₛ x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3716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C24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RESNET BUILDING BLOCKS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685800"/>
            <a:ext cx="4160520" cy="411480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12700">
            <a:solidFill>
              <a:srgbClr val="D9CFB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685800"/>
            <a:ext cx="4160520" cy="365760"/>
          </a:xfrm>
          <a:prstGeom prst="rect">
            <a:avLst/>
          </a:prstGeom>
          <a:solidFill>
            <a:srgbClr val="2C2416"/>
          </a:solidFill>
          <a:ln/>
        </p:spPr>
      </p:sp>
      <p:sp>
        <p:nvSpPr>
          <p:cNvPr id="6" name="Text 4"/>
          <p:cNvSpPr/>
          <p:nvPr/>
        </p:nvSpPr>
        <p:spPr>
          <a:xfrm>
            <a:off x="320040" y="731520"/>
            <a:ext cx="4160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BASIC BLOCK  (ResNet-18 / 34)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1371600" y="1280160"/>
            <a:ext cx="1828800" cy="411480"/>
          </a:xfrm>
          <a:prstGeom prst="roundRect">
            <a:avLst>
              <a:gd name="adj" fmla="val 11111"/>
            </a:avLst>
          </a:prstGeom>
          <a:solidFill>
            <a:srgbClr val="2C2416"/>
          </a:solidFill>
          <a:ln/>
        </p:spPr>
      </p:sp>
      <p:sp>
        <p:nvSpPr>
          <p:cNvPr id="8" name="Text 6"/>
          <p:cNvSpPr/>
          <p:nvPr/>
        </p:nvSpPr>
        <p:spPr>
          <a:xfrm>
            <a:off x="1371600" y="13258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3×3 Conv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1371600" y="1783080"/>
            <a:ext cx="1828800" cy="365760"/>
          </a:xfrm>
          <a:prstGeom prst="roundRect">
            <a:avLst>
              <a:gd name="adj" fmla="val 12500"/>
            </a:avLst>
          </a:prstGeom>
          <a:solidFill>
            <a:srgbClr val="4A3F2E"/>
          </a:solidFill>
          <a:ln/>
        </p:spPr>
      </p:sp>
      <p:sp>
        <p:nvSpPr>
          <p:cNvPr id="10" name="Text 8"/>
          <p:cNvSpPr/>
          <p:nvPr/>
        </p:nvSpPr>
        <p:spPr>
          <a:xfrm>
            <a:off x="1371600" y="1828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BN + ReLU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1371600" y="2240280"/>
            <a:ext cx="1828800" cy="411480"/>
          </a:xfrm>
          <a:prstGeom prst="roundRect">
            <a:avLst>
              <a:gd name="adj" fmla="val 11111"/>
            </a:avLst>
          </a:prstGeom>
          <a:solidFill>
            <a:srgbClr val="2C2416"/>
          </a:solidFill>
          <a:ln/>
        </p:spPr>
      </p:sp>
      <p:sp>
        <p:nvSpPr>
          <p:cNvPr id="12" name="Text 10"/>
          <p:cNvSpPr/>
          <p:nvPr/>
        </p:nvSpPr>
        <p:spPr>
          <a:xfrm>
            <a:off x="1371600" y="22860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3×3 Conv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1371600" y="2743200"/>
            <a:ext cx="1828800" cy="365760"/>
          </a:xfrm>
          <a:prstGeom prst="roundRect">
            <a:avLst>
              <a:gd name="adj" fmla="val 12500"/>
            </a:avLst>
          </a:prstGeom>
          <a:solidFill>
            <a:srgbClr val="4A3F2E"/>
          </a:solidFill>
          <a:ln/>
        </p:spPr>
      </p:sp>
      <p:sp>
        <p:nvSpPr>
          <p:cNvPr id="14" name="Text 12"/>
          <p:cNvSpPr/>
          <p:nvPr/>
        </p:nvSpPr>
        <p:spPr>
          <a:xfrm>
            <a:off x="1371600" y="27889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BN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1965960" y="3246120"/>
            <a:ext cx="640080" cy="457200"/>
          </a:xfrm>
          <a:prstGeom prst="ellipse">
            <a:avLst/>
          </a:prstGeom>
          <a:solidFill>
            <a:srgbClr val="B8956A"/>
          </a:solidFill>
          <a:ln/>
        </p:spPr>
      </p:sp>
      <p:sp>
        <p:nvSpPr>
          <p:cNvPr id="16" name="Text 14"/>
          <p:cNvSpPr/>
          <p:nvPr/>
        </p:nvSpPr>
        <p:spPr>
          <a:xfrm>
            <a:off x="1965960" y="324612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457200" y="338328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B8956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identity skip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02920" y="3840480"/>
            <a:ext cx="3794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C4E3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Two 3×3 convolutions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5C4E3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+ identity shortcut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5C4E3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Simpler, used for shallower nets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709160" y="685800"/>
            <a:ext cx="4114800" cy="411480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19050">
            <a:solidFill>
              <a:srgbClr val="B8956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709160" y="685800"/>
            <a:ext cx="4114800" cy="365760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21" name="Text 19"/>
          <p:cNvSpPr/>
          <p:nvPr/>
        </p:nvSpPr>
        <p:spPr>
          <a:xfrm>
            <a:off x="4709160" y="73152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BOTTLENECK  (ResNet-50 / 101 / 152)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5852160" y="1234440"/>
            <a:ext cx="1828800" cy="365760"/>
          </a:xfrm>
          <a:prstGeom prst="roundRect">
            <a:avLst>
              <a:gd name="adj" fmla="val 12500"/>
            </a:avLst>
          </a:prstGeom>
          <a:solidFill>
            <a:srgbClr val="2C2416"/>
          </a:solidFill>
          <a:ln/>
        </p:spPr>
      </p:sp>
      <p:sp>
        <p:nvSpPr>
          <p:cNvPr id="23" name="Text 21"/>
          <p:cNvSpPr/>
          <p:nvPr/>
        </p:nvSpPr>
        <p:spPr>
          <a:xfrm>
            <a:off x="5852160" y="12801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1×1 Conv ↓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852160" y="1691640"/>
            <a:ext cx="1828800" cy="365760"/>
          </a:xfrm>
          <a:prstGeom prst="roundRect">
            <a:avLst>
              <a:gd name="adj" fmla="val 12500"/>
            </a:avLst>
          </a:prstGeom>
          <a:solidFill>
            <a:srgbClr val="2C2416"/>
          </a:solidFill>
          <a:ln/>
        </p:spPr>
      </p:sp>
      <p:sp>
        <p:nvSpPr>
          <p:cNvPr id="25" name="Text 23"/>
          <p:cNvSpPr/>
          <p:nvPr/>
        </p:nvSpPr>
        <p:spPr>
          <a:xfrm>
            <a:off x="5852160" y="17373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3×3 Conv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852160" y="2148840"/>
            <a:ext cx="1828800" cy="365760"/>
          </a:xfrm>
          <a:prstGeom prst="roundRect">
            <a:avLst>
              <a:gd name="adj" fmla="val 12500"/>
            </a:avLst>
          </a:prstGeom>
          <a:solidFill>
            <a:srgbClr val="2C2416"/>
          </a:solidFill>
          <a:ln/>
        </p:spPr>
      </p:sp>
      <p:sp>
        <p:nvSpPr>
          <p:cNvPr id="27" name="Text 25"/>
          <p:cNvSpPr/>
          <p:nvPr/>
        </p:nvSpPr>
        <p:spPr>
          <a:xfrm>
            <a:off x="5852160" y="21945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1×1 Conv ↑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5852160" y="2606040"/>
            <a:ext cx="1828800" cy="320040"/>
          </a:xfrm>
          <a:prstGeom prst="roundRect">
            <a:avLst>
              <a:gd name="adj" fmla="val 14286"/>
            </a:avLst>
          </a:prstGeom>
          <a:solidFill>
            <a:srgbClr val="4A3F2E"/>
          </a:solidFill>
          <a:ln/>
        </p:spPr>
      </p:sp>
      <p:sp>
        <p:nvSpPr>
          <p:cNvPr id="29" name="Text 27"/>
          <p:cNvSpPr/>
          <p:nvPr/>
        </p:nvSpPr>
        <p:spPr>
          <a:xfrm>
            <a:off x="5852160" y="263347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BN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6446520" y="3063240"/>
            <a:ext cx="640080" cy="457200"/>
          </a:xfrm>
          <a:prstGeom prst="ellipse">
            <a:avLst/>
          </a:prstGeom>
          <a:solidFill>
            <a:srgbClr val="B8956A"/>
          </a:solidFill>
          <a:ln/>
        </p:spPr>
      </p:sp>
      <p:sp>
        <p:nvSpPr>
          <p:cNvPr id="31" name="Text 29"/>
          <p:cNvSpPr/>
          <p:nvPr/>
        </p:nvSpPr>
        <p:spPr>
          <a:xfrm>
            <a:off x="6446520" y="306324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4846320" y="315468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B8956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identity skip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4892040" y="3794760"/>
            <a:ext cx="3749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C4E3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1×1 → 3×3 → 1×1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5C4E3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Reduces computation while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5C4E3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increasing effective depth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3716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C24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RESNET ARCHITECTURE VARIANTS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64008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C4E3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High-level stage structure (example: ResNet-50)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005840"/>
            <a:ext cx="1280160" cy="914400"/>
          </a:xfrm>
          <a:prstGeom prst="roundRect">
            <a:avLst>
              <a:gd name="adj" fmla="val 6000"/>
            </a:avLst>
          </a:prstGeom>
          <a:solidFill>
            <a:srgbClr val="EFE9DD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105156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C241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Conv1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65760" y="137160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C4E3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7×7, 64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5C4E3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stride 2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1645920" y="1325880"/>
            <a:ext cx="137160" cy="228600"/>
          </a:xfrm>
          <a:prstGeom prst="rightArrow">
            <a:avLst/>
          </a:prstGeom>
          <a:solidFill>
            <a:srgbClr val="B8956A"/>
          </a:solidFill>
          <a:ln/>
        </p:spPr>
      </p:sp>
      <p:sp>
        <p:nvSpPr>
          <p:cNvPr id="9" name="Shape 7"/>
          <p:cNvSpPr/>
          <p:nvPr/>
        </p:nvSpPr>
        <p:spPr>
          <a:xfrm>
            <a:off x="1783080" y="1005840"/>
            <a:ext cx="1280160" cy="914400"/>
          </a:xfrm>
          <a:prstGeom prst="roundRect">
            <a:avLst>
              <a:gd name="adj" fmla="val 6000"/>
            </a:avLst>
          </a:prstGeom>
          <a:solidFill>
            <a:srgbClr val="EFE9DD"/>
          </a:solidFill>
          <a:ln/>
        </p:spPr>
      </p:sp>
      <p:sp>
        <p:nvSpPr>
          <p:cNvPr id="10" name="Text 8"/>
          <p:cNvSpPr/>
          <p:nvPr/>
        </p:nvSpPr>
        <p:spPr>
          <a:xfrm>
            <a:off x="1783080" y="105156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C241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MaxPool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783080" y="137160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C4E3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3×3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5C4E3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stride 2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063240" y="1325880"/>
            <a:ext cx="137160" cy="228600"/>
          </a:xfrm>
          <a:prstGeom prst="rightArrow">
            <a:avLst/>
          </a:prstGeom>
          <a:solidFill>
            <a:srgbClr val="B8956A"/>
          </a:solidFill>
          <a:ln/>
        </p:spPr>
      </p:sp>
      <p:sp>
        <p:nvSpPr>
          <p:cNvPr id="13" name="Shape 11"/>
          <p:cNvSpPr/>
          <p:nvPr/>
        </p:nvSpPr>
        <p:spPr>
          <a:xfrm>
            <a:off x="3200400" y="1005840"/>
            <a:ext cx="1280160" cy="914400"/>
          </a:xfrm>
          <a:prstGeom prst="roundRect">
            <a:avLst>
              <a:gd name="adj" fmla="val 6000"/>
            </a:avLst>
          </a:prstGeom>
          <a:solidFill>
            <a:srgbClr val="2C2416"/>
          </a:solidFill>
          <a:ln/>
        </p:spPr>
      </p:sp>
      <p:sp>
        <p:nvSpPr>
          <p:cNvPr id="14" name="Text 12"/>
          <p:cNvSpPr/>
          <p:nvPr/>
        </p:nvSpPr>
        <p:spPr>
          <a:xfrm>
            <a:off x="3200400" y="105156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Stage 1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200400" y="137160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4C4A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×3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D4C4A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256-d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480560" y="1325880"/>
            <a:ext cx="137160" cy="228600"/>
          </a:xfrm>
          <a:prstGeom prst="rightArrow">
            <a:avLst/>
          </a:prstGeom>
          <a:solidFill>
            <a:srgbClr val="B8956A"/>
          </a:solidFill>
          <a:ln/>
        </p:spPr>
      </p:sp>
      <p:sp>
        <p:nvSpPr>
          <p:cNvPr id="17" name="Shape 15"/>
          <p:cNvSpPr/>
          <p:nvPr/>
        </p:nvSpPr>
        <p:spPr>
          <a:xfrm>
            <a:off x="4617720" y="1005840"/>
            <a:ext cx="1280160" cy="914400"/>
          </a:xfrm>
          <a:prstGeom prst="roundRect">
            <a:avLst>
              <a:gd name="adj" fmla="val 6000"/>
            </a:avLst>
          </a:prstGeom>
          <a:solidFill>
            <a:srgbClr val="2C2416"/>
          </a:solidFill>
          <a:ln/>
        </p:spPr>
      </p:sp>
      <p:sp>
        <p:nvSpPr>
          <p:cNvPr id="18" name="Text 16"/>
          <p:cNvSpPr/>
          <p:nvPr/>
        </p:nvSpPr>
        <p:spPr>
          <a:xfrm>
            <a:off x="4617720" y="105156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Stage 2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617720" y="137160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4C4A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×4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D4C4A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512-d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897880" y="1325880"/>
            <a:ext cx="137160" cy="228600"/>
          </a:xfrm>
          <a:prstGeom prst="rightArrow">
            <a:avLst/>
          </a:prstGeom>
          <a:solidFill>
            <a:srgbClr val="B8956A"/>
          </a:solidFill>
          <a:ln/>
        </p:spPr>
      </p:sp>
      <p:sp>
        <p:nvSpPr>
          <p:cNvPr id="21" name="Shape 19"/>
          <p:cNvSpPr/>
          <p:nvPr/>
        </p:nvSpPr>
        <p:spPr>
          <a:xfrm>
            <a:off x="6035040" y="1005840"/>
            <a:ext cx="1280160" cy="914400"/>
          </a:xfrm>
          <a:prstGeom prst="roundRect">
            <a:avLst>
              <a:gd name="adj" fmla="val 6000"/>
            </a:avLst>
          </a:prstGeom>
          <a:solidFill>
            <a:srgbClr val="2C2416"/>
          </a:solidFill>
          <a:ln/>
        </p:spPr>
      </p:sp>
      <p:sp>
        <p:nvSpPr>
          <p:cNvPr id="22" name="Text 20"/>
          <p:cNvSpPr/>
          <p:nvPr/>
        </p:nvSpPr>
        <p:spPr>
          <a:xfrm>
            <a:off x="6035040" y="105156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Stage 3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035040" y="137160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4C4A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×6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D4C4A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1024-d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7315200" y="1325880"/>
            <a:ext cx="137160" cy="228600"/>
          </a:xfrm>
          <a:prstGeom prst="rightArrow">
            <a:avLst/>
          </a:prstGeom>
          <a:solidFill>
            <a:srgbClr val="B8956A"/>
          </a:solidFill>
          <a:ln/>
        </p:spPr>
      </p:sp>
      <p:sp>
        <p:nvSpPr>
          <p:cNvPr id="25" name="Shape 23"/>
          <p:cNvSpPr/>
          <p:nvPr/>
        </p:nvSpPr>
        <p:spPr>
          <a:xfrm>
            <a:off x="7452360" y="1005840"/>
            <a:ext cx="1280160" cy="914400"/>
          </a:xfrm>
          <a:prstGeom prst="roundRect">
            <a:avLst>
              <a:gd name="adj" fmla="val 6000"/>
            </a:avLst>
          </a:prstGeom>
          <a:solidFill>
            <a:srgbClr val="2C2416"/>
          </a:solidFill>
          <a:ln/>
        </p:spPr>
      </p:sp>
      <p:sp>
        <p:nvSpPr>
          <p:cNvPr id="26" name="Text 24"/>
          <p:cNvSpPr/>
          <p:nvPr/>
        </p:nvSpPr>
        <p:spPr>
          <a:xfrm>
            <a:off x="7452360" y="105156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Stage 4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7452360" y="137160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4C4A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×3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D4C4A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2048-d</a:t>
            </a:r>
            <a:endParaRPr lang="en-US" sz="1000" dirty="0"/>
          </a:p>
        </p:txBody>
      </p:sp>
      <p:graphicFrame>
        <p:nvGraphicFramePr>
          <p:cNvPr id="2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2194560"/>
          <a:ext cx="8412480" cy="2286000"/>
        </p:xfrm>
        <a:graphic>
          <a:graphicData uri="http://schemas.openxmlformats.org/drawingml/2006/table">
            <a:tbl>
              <a:tblPr/>
              <a:tblGrid>
                <a:gridCol w="1737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Model</a:t>
                      </a:r>
                      <a:endParaRPr lang="en-US" sz="13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241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Layers</a:t>
                      </a:r>
                      <a:endParaRPr lang="en-US" sz="13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241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Block</a:t>
                      </a:r>
                      <a:endParaRPr lang="en-US" sz="13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241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Params</a:t>
                      </a:r>
                      <a:endParaRPr lang="en-US" sz="13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241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Top-1 Err*</a:t>
                      </a:r>
                      <a:endParaRPr lang="en-US" sz="13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241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5C4E3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ResNet-18</a:t>
                      </a:r>
                      <a:endParaRPr lang="en-US" sz="13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5C4E3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18</a:t>
                      </a:r>
                      <a:endParaRPr lang="en-US" sz="13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5C4E3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Basic</a:t>
                      </a:r>
                      <a:endParaRPr lang="en-US" sz="13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5C4E3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11.7M</a:t>
                      </a:r>
                      <a:endParaRPr lang="en-US" sz="13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5C4E3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30.2%</a:t>
                      </a:r>
                      <a:endParaRPr lang="en-US" sz="13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5C4E3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ResNet-34</a:t>
                      </a:r>
                      <a:endParaRPr lang="en-US" sz="13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5C4E3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34</a:t>
                      </a:r>
                      <a:endParaRPr lang="en-US" sz="13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5C4E3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Basic</a:t>
                      </a:r>
                      <a:endParaRPr lang="en-US" sz="13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5C4E3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21.8M</a:t>
                      </a:r>
                      <a:endParaRPr lang="en-US" sz="13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5C4E3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26.7%</a:t>
                      </a:r>
                      <a:endParaRPr lang="en-US" sz="13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5C4E3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ResNet-50</a:t>
                      </a:r>
                      <a:endParaRPr lang="en-US" sz="13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5C4E3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50</a:t>
                      </a:r>
                      <a:endParaRPr lang="en-US" sz="13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5C4E3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Bottleneck</a:t>
                      </a:r>
                      <a:endParaRPr lang="en-US" sz="13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5C4E3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25.6M</a:t>
                      </a:r>
                      <a:endParaRPr lang="en-US" sz="13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5C4E3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24.7%</a:t>
                      </a:r>
                      <a:endParaRPr lang="en-US" sz="13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5C4E3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ResNet-101</a:t>
                      </a:r>
                      <a:endParaRPr lang="en-US" sz="13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5C4E3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101</a:t>
                      </a:r>
                      <a:endParaRPr lang="en-US" sz="13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5C4E3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Bottleneck</a:t>
                      </a:r>
                      <a:endParaRPr lang="en-US" sz="13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5C4E3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44.5M</a:t>
                      </a:r>
                      <a:endParaRPr lang="en-US" sz="13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5C4E3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23.6%</a:t>
                      </a:r>
                      <a:endParaRPr lang="en-US" sz="13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5C4E3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ResNet-152</a:t>
                      </a:r>
                      <a:endParaRPr lang="en-US" sz="13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5C4E3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152</a:t>
                      </a:r>
                      <a:endParaRPr lang="en-US" sz="13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 smtClean="0">
                          <a:solidFill>
                            <a:srgbClr val="5C4E3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Bottleneck</a:t>
                      </a:r>
                      <a:endParaRPr lang="en-US" sz="13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5C4E3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60.2M</a:t>
                      </a:r>
                      <a:endParaRPr lang="en-US" sz="13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5C4E3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23.0%</a:t>
                      </a:r>
                      <a:endParaRPr lang="en-US" sz="13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9" name="Text 26"/>
          <p:cNvSpPr/>
          <p:nvPr/>
        </p:nvSpPr>
        <p:spPr>
          <a:xfrm>
            <a:off x="365760" y="4663440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A7A6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* Approx. 1-crop top-1 validation error on ImageNet from the paper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C24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EXPERIMENTAL RESULTS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777240"/>
            <a:ext cx="2788920" cy="1737360"/>
          </a:xfrm>
          <a:prstGeom prst="roundRect">
            <a:avLst>
              <a:gd name="adj" fmla="val 5263"/>
            </a:avLst>
          </a:prstGeom>
          <a:solidFill>
            <a:srgbClr val="EFE9DD"/>
          </a:solidFill>
          <a:ln/>
        </p:spPr>
      </p:sp>
      <p:sp>
        <p:nvSpPr>
          <p:cNvPr id="5" name="Text 3"/>
          <p:cNvSpPr/>
          <p:nvPr/>
        </p:nvSpPr>
        <p:spPr>
          <a:xfrm>
            <a:off x="365760" y="914400"/>
            <a:ext cx="2788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B8956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3.57%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457200" y="1554480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2C241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ImageNet test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2C241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error (ensemble)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210312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8A7A6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1st place ILSVRC 2015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91840" y="777240"/>
            <a:ext cx="2788920" cy="1737360"/>
          </a:xfrm>
          <a:prstGeom prst="roundRect">
            <a:avLst>
              <a:gd name="adj" fmla="val 5263"/>
            </a:avLst>
          </a:prstGeom>
          <a:solidFill>
            <a:srgbClr val="EFE9DD"/>
          </a:solidFill>
          <a:ln/>
        </p:spPr>
      </p:sp>
      <p:sp>
        <p:nvSpPr>
          <p:cNvPr id="9" name="Text 7"/>
          <p:cNvSpPr/>
          <p:nvPr/>
        </p:nvSpPr>
        <p:spPr>
          <a:xfrm>
            <a:off x="3291840" y="914400"/>
            <a:ext cx="2788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B8956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152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3383280" y="1554480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2C241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layers deep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2C241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on ImageNet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383280" y="210312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8A7A6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8× deeper than VGG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217920" y="777240"/>
            <a:ext cx="2788920" cy="1737360"/>
          </a:xfrm>
          <a:prstGeom prst="roundRect">
            <a:avLst>
              <a:gd name="adj" fmla="val 5263"/>
            </a:avLst>
          </a:prstGeom>
          <a:solidFill>
            <a:srgbClr val="EFE9DD"/>
          </a:solidFill>
          <a:ln/>
        </p:spPr>
      </p:sp>
      <p:sp>
        <p:nvSpPr>
          <p:cNvPr id="13" name="Text 11"/>
          <p:cNvSpPr/>
          <p:nvPr/>
        </p:nvSpPr>
        <p:spPr>
          <a:xfrm>
            <a:off x="6217920" y="914400"/>
            <a:ext cx="2788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B8956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28%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6309360" y="1554480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2C241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relative gain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2C241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on COCO detection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309360" y="210312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8A7A6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from depth alone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65760" y="274320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C241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Key Findings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65760" y="3108960"/>
            <a:ext cx="84124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5C4E3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Plain nets: 34-layer has higher training &amp; validation error than 18-layer (clear degradation).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5C4E3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ResNets: 34-layer outperforms 18-layer; accuracy keeps improving with depth up to 152 layers.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5C4E3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CIFAR-10: Successfully trained 110-layer and even 1202-layer ResNets (overfitting at 1202).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5C4E3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Detection &amp; Localization: ResNet backbone delivered 1st place in ImageNet detection, localization, and COCO.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C24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ADVANTAGES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822960"/>
            <a:ext cx="2788920" cy="1828800"/>
          </a:xfrm>
          <a:prstGeom prst="roundRect">
            <a:avLst>
              <a:gd name="adj" fmla="val 4000"/>
            </a:avLst>
          </a:prstGeom>
          <a:solidFill>
            <a:srgbClr val="EFE9DD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005840"/>
            <a:ext cx="274320" cy="2743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68680" y="100584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C241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Easier Optimization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502920" y="1463040"/>
            <a:ext cx="2514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C4E3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Residual formulation makes it easier for SGD to find good solutions. Training error decreases with depth.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3291840" y="822960"/>
            <a:ext cx="2788920" cy="1828800"/>
          </a:xfrm>
          <a:prstGeom prst="roundRect">
            <a:avLst>
              <a:gd name="adj" fmla="val 4000"/>
            </a:avLst>
          </a:prstGeom>
          <a:solidFill>
            <a:srgbClr val="EFE9DD"/>
          </a:solidFill>
          <a:ln/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9000" y="1005840"/>
            <a:ext cx="274320" cy="27432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3794760" y="100584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C241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Accuracy from Depth</a:t>
            </a: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>
            <a:off x="3429000" y="1463040"/>
            <a:ext cx="2514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C4E3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Networks can be made substantially deeper (100+ layers) and still gain accuracy, unlike plain nets.</a:t>
            </a:r>
            <a:endParaRPr lang="en-US" sz="1200" dirty="0"/>
          </a:p>
        </p:txBody>
      </p:sp>
      <p:sp>
        <p:nvSpPr>
          <p:cNvPr id="16" name="Shape 11"/>
          <p:cNvSpPr/>
          <p:nvPr/>
        </p:nvSpPr>
        <p:spPr>
          <a:xfrm>
            <a:off x="365760" y="2834640"/>
            <a:ext cx="2788920" cy="1828800"/>
          </a:xfrm>
          <a:prstGeom prst="roundRect">
            <a:avLst>
              <a:gd name="adj" fmla="val 4000"/>
            </a:avLst>
          </a:prstGeom>
          <a:solidFill>
            <a:srgbClr val="EFE9DD"/>
          </a:solidFill>
          <a:ln/>
        </p:spPr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3017520"/>
            <a:ext cx="274320" cy="27432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868680" y="301752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C241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Strong Transfer</a:t>
            </a:r>
            <a:endParaRPr lang="en-US" sz="1300" dirty="0"/>
          </a:p>
        </p:txBody>
      </p:sp>
      <p:sp>
        <p:nvSpPr>
          <p:cNvPr id="19" name="Text 13"/>
          <p:cNvSpPr/>
          <p:nvPr/>
        </p:nvSpPr>
        <p:spPr>
          <a:xfrm>
            <a:off x="502920" y="3474720"/>
            <a:ext cx="2514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C4E3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Excellent backbone for detection, segmentation, and many downstream vision tasks.</a:t>
            </a:r>
            <a:endParaRPr lang="en-US" sz="1200" dirty="0"/>
          </a:p>
        </p:txBody>
      </p:sp>
      <p:sp>
        <p:nvSpPr>
          <p:cNvPr id="20" name="Shape 14"/>
          <p:cNvSpPr/>
          <p:nvPr/>
        </p:nvSpPr>
        <p:spPr>
          <a:xfrm>
            <a:off x="3291840" y="2834640"/>
            <a:ext cx="2788920" cy="1828800"/>
          </a:xfrm>
          <a:prstGeom prst="roundRect">
            <a:avLst>
              <a:gd name="adj" fmla="val 4000"/>
            </a:avLst>
          </a:prstGeom>
          <a:solidFill>
            <a:srgbClr val="EFE9DD"/>
          </a:solidFill>
          <a:ln/>
        </p:spPr>
      </p:sp>
      <p:pic>
        <p:nvPicPr>
          <p:cNvPr id="21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9000" y="3017520"/>
            <a:ext cx="274320" cy="274320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3794760" y="301752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C241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Scalable Design</a:t>
            </a:r>
            <a:endParaRPr lang="en-US" sz="1300" dirty="0"/>
          </a:p>
        </p:txBody>
      </p:sp>
      <p:sp>
        <p:nvSpPr>
          <p:cNvPr id="23" name="Text 16"/>
          <p:cNvSpPr/>
          <p:nvPr/>
        </p:nvSpPr>
        <p:spPr>
          <a:xfrm>
            <a:off x="3429000" y="3474720"/>
            <a:ext cx="2514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C4E3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Bottleneck blocks allow very deep models (ResNet-152) with manageable FLOPs vs VGG.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C24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LIMITATIONS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822960"/>
            <a:ext cx="2788920" cy="1828800"/>
          </a:xfrm>
          <a:prstGeom prst="roundRect">
            <a:avLst>
              <a:gd name="adj" fmla="val 4000"/>
            </a:avLst>
          </a:prstGeom>
          <a:solidFill>
            <a:srgbClr val="EFE9DD"/>
          </a:solidFill>
          <a:ln/>
        </p:spPr>
      </p:sp>
      <p:sp>
        <p:nvSpPr>
          <p:cNvPr id="6" name="Text 3"/>
          <p:cNvSpPr/>
          <p:nvPr/>
        </p:nvSpPr>
        <p:spPr>
          <a:xfrm>
            <a:off x="868680" y="100584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C241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Diminishing Returns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502920" y="1463040"/>
            <a:ext cx="2514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C4E3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On CIFAR-10, a 1202-layer ResNet overfits and underperforms a 110-layer one. Depth needs regularization.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4572000" y="854364"/>
            <a:ext cx="2788920" cy="1828800"/>
          </a:xfrm>
          <a:prstGeom prst="roundRect">
            <a:avLst>
              <a:gd name="adj" fmla="val 4000"/>
            </a:avLst>
          </a:prstGeom>
          <a:solidFill>
            <a:srgbClr val="EFE9DD"/>
          </a:solidFill>
          <a:ln/>
        </p:spPr>
      </p:sp>
      <p:sp>
        <p:nvSpPr>
          <p:cNvPr id="10" name="Text 6"/>
          <p:cNvSpPr/>
          <p:nvPr/>
        </p:nvSpPr>
        <p:spPr>
          <a:xfrm>
            <a:off x="4914900" y="117856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C241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Relies on BatchNorm</a:t>
            </a: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>
            <a:off x="4823460" y="1431636"/>
            <a:ext cx="2514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C4E3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Very deep residual nets still depended heavily on BN for stable training in the original work.</a:t>
            </a:r>
            <a:endParaRPr lang="en-US" sz="1200" dirty="0"/>
          </a:p>
        </p:txBody>
      </p:sp>
      <p:sp>
        <p:nvSpPr>
          <p:cNvPr id="16" name="Shape 11"/>
          <p:cNvSpPr/>
          <p:nvPr/>
        </p:nvSpPr>
        <p:spPr>
          <a:xfrm>
            <a:off x="365760" y="2834640"/>
            <a:ext cx="2788920" cy="1828800"/>
          </a:xfrm>
          <a:prstGeom prst="roundRect">
            <a:avLst>
              <a:gd name="adj" fmla="val 4000"/>
            </a:avLst>
          </a:prstGeom>
          <a:solidFill>
            <a:srgbClr val="EFE9DD"/>
          </a:solidFill>
          <a:ln/>
        </p:spPr>
      </p:sp>
      <p:sp>
        <p:nvSpPr>
          <p:cNvPr id="18" name="Text 12"/>
          <p:cNvSpPr/>
          <p:nvPr/>
        </p:nvSpPr>
        <p:spPr>
          <a:xfrm>
            <a:off x="868680" y="301752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C241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Later Surpassed</a:t>
            </a:r>
            <a:endParaRPr lang="en-US" sz="1300" dirty="0"/>
          </a:p>
        </p:txBody>
      </p:sp>
      <p:sp>
        <p:nvSpPr>
          <p:cNvPr id="19" name="Text 13"/>
          <p:cNvSpPr/>
          <p:nvPr/>
        </p:nvSpPr>
        <p:spPr>
          <a:xfrm>
            <a:off x="502920" y="3474720"/>
            <a:ext cx="2514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C4E3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DenseNet, ResNeXt, EfficientNet, and Vision Transformers later improved accuracy/efficiency.</a:t>
            </a:r>
            <a:endParaRPr lang="en-US" sz="1200" dirty="0"/>
          </a:p>
        </p:txBody>
      </p:sp>
      <p:sp>
        <p:nvSpPr>
          <p:cNvPr id="20" name="Shape 14"/>
          <p:cNvSpPr/>
          <p:nvPr/>
        </p:nvSpPr>
        <p:spPr>
          <a:xfrm>
            <a:off x="4549140" y="2834640"/>
            <a:ext cx="2788920" cy="1828800"/>
          </a:xfrm>
          <a:prstGeom prst="roundRect">
            <a:avLst>
              <a:gd name="adj" fmla="val 4000"/>
            </a:avLst>
          </a:prstGeom>
          <a:solidFill>
            <a:srgbClr val="EFE9DD"/>
          </a:solidFill>
          <a:ln/>
        </p:spPr>
      </p:sp>
      <p:sp>
        <p:nvSpPr>
          <p:cNvPr id="22" name="Text 15"/>
          <p:cNvSpPr/>
          <p:nvPr/>
        </p:nvSpPr>
        <p:spPr>
          <a:xfrm>
            <a:off x="5097088" y="3054466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C241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Memory Cost</a:t>
            </a:r>
            <a:endParaRPr lang="en-US" sz="1300" dirty="0"/>
          </a:p>
        </p:txBody>
      </p:sp>
      <p:sp>
        <p:nvSpPr>
          <p:cNvPr id="23" name="Text 16"/>
          <p:cNvSpPr/>
          <p:nvPr/>
        </p:nvSpPr>
        <p:spPr>
          <a:xfrm>
            <a:off x="4709160" y="3486959"/>
            <a:ext cx="2514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C4E3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Storing activations for backprop in 100+ layer nets is memory-intensive (checkpointing helps).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C24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APPLICATIONS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822960"/>
            <a:ext cx="2788920" cy="1828800"/>
          </a:xfrm>
          <a:prstGeom prst="roundRect">
            <a:avLst>
              <a:gd name="adj" fmla="val 4000"/>
            </a:avLst>
          </a:prstGeom>
          <a:solidFill>
            <a:srgbClr val="EFE9DD"/>
          </a:solidFill>
          <a:ln/>
        </p:spPr>
      </p:sp>
      <p:sp>
        <p:nvSpPr>
          <p:cNvPr id="6" name="Text 3"/>
          <p:cNvSpPr/>
          <p:nvPr/>
        </p:nvSpPr>
        <p:spPr>
          <a:xfrm>
            <a:off x="868680" y="100584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C241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Image Classification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502920" y="1463040"/>
            <a:ext cx="2514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C4E3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Standard backbone for ImageNet-scale classification; still a strong baseline.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3291840" y="822960"/>
            <a:ext cx="2788920" cy="1828800"/>
          </a:xfrm>
          <a:prstGeom prst="roundRect">
            <a:avLst>
              <a:gd name="adj" fmla="val 4000"/>
            </a:avLst>
          </a:prstGeom>
          <a:solidFill>
            <a:srgbClr val="EFE9DD"/>
          </a:solidFill>
          <a:ln/>
        </p:spPr>
      </p:sp>
      <p:sp>
        <p:nvSpPr>
          <p:cNvPr id="10" name="Text 6"/>
          <p:cNvSpPr/>
          <p:nvPr/>
        </p:nvSpPr>
        <p:spPr>
          <a:xfrm>
            <a:off x="3794760" y="100584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C241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Object Detection</a:t>
            </a: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>
            <a:off x="3429000" y="1463040"/>
            <a:ext cx="2514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C4E3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Faster R-CNN, Mask R-CNN, RetinaNet and many detectors use ResNet backbones.</a:t>
            </a:r>
            <a:endParaRPr lang="en-US" sz="1200" dirty="0"/>
          </a:p>
        </p:txBody>
      </p:sp>
      <p:sp>
        <p:nvSpPr>
          <p:cNvPr id="16" name="Shape 11"/>
          <p:cNvSpPr/>
          <p:nvPr/>
        </p:nvSpPr>
        <p:spPr>
          <a:xfrm>
            <a:off x="365760" y="2834640"/>
            <a:ext cx="2788920" cy="1828800"/>
          </a:xfrm>
          <a:prstGeom prst="roundRect">
            <a:avLst>
              <a:gd name="adj" fmla="val 4000"/>
            </a:avLst>
          </a:prstGeom>
          <a:solidFill>
            <a:srgbClr val="EFE9DD"/>
          </a:solidFill>
          <a:ln/>
        </p:spPr>
      </p:sp>
      <p:sp>
        <p:nvSpPr>
          <p:cNvPr id="18" name="Text 12"/>
          <p:cNvSpPr/>
          <p:nvPr/>
        </p:nvSpPr>
        <p:spPr>
          <a:xfrm>
            <a:off x="868680" y="301752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C241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Medical Imaging</a:t>
            </a:r>
            <a:endParaRPr lang="en-US" sz="1300" dirty="0"/>
          </a:p>
        </p:txBody>
      </p:sp>
      <p:sp>
        <p:nvSpPr>
          <p:cNvPr id="19" name="Text 13"/>
          <p:cNvSpPr/>
          <p:nvPr/>
        </p:nvSpPr>
        <p:spPr>
          <a:xfrm>
            <a:off x="502920" y="3474720"/>
            <a:ext cx="2514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C4E3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Pathology, radiology, and microscopy analysis pipelines often start from pretrained ResNets.</a:t>
            </a:r>
            <a:endParaRPr lang="en-US" sz="1200" dirty="0"/>
          </a:p>
        </p:txBody>
      </p:sp>
      <p:sp>
        <p:nvSpPr>
          <p:cNvPr id="20" name="Shape 14"/>
          <p:cNvSpPr/>
          <p:nvPr/>
        </p:nvSpPr>
        <p:spPr>
          <a:xfrm>
            <a:off x="3291840" y="2834640"/>
            <a:ext cx="2788920" cy="1828800"/>
          </a:xfrm>
          <a:prstGeom prst="roundRect">
            <a:avLst>
              <a:gd name="adj" fmla="val 4000"/>
            </a:avLst>
          </a:prstGeom>
          <a:solidFill>
            <a:srgbClr val="EFE9DD"/>
          </a:solidFill>
          <a:ln/>
        </p:spPr>
      </p:sp>
      <p:sp>
        <p:nvSpPr>
          <p:cNvPr id="22" name="Text 15"/>
          <p:cNvSpPr/>
          <p:nvPr/>
        </p:nvSpPr>
        <p:spPr>
          <a:xfrm>
            <a:off x="3794760" y="301752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C241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Transfer Learning</a:t>
            </a:r>
            <a:endParaRPr lang="en-US" sz="1300" dirty="0"/>
          </a:p>
        </p:txBody>
      </p:sp>
      <p:sp>
        <p:nvSpPr>
          <p:cNvPr id="23" name="Text 16"/>
          <p:cNvSpPr/>
          <p:nvPr/>
        </p:nvSpPr>
        <p:spPr>
          <a:xfrm>
            <a:off x="3429000" y="3474720"/>
            <a:ext cx="2514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C4E3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Pretrained ResNet-50/101 remain popular feature extractors across domains.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C24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CRITICAL ANALYSIS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20040" y="822960"/>
            <a:ext cx="4160520" cy="3931920"/>
          </a:xfrm>
          <a:prstGeom prst="roundRect">
            <a:avLst>
              <a:gd name="adj" fmla="val 2326"/>
            </a:avLst>
          </a:prstGeom>
          <a:solidFill>
            <a:srgbClr val="EFE9DD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960120"/>
            <a:ext cx="3794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E7D3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Strengths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02920" y="1417320"/>
            <a:ext cx="37947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5C4E3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Simple, elegant idea with huge practical impact.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5C4E3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Rigorous empirical evaluation across ImageNet, CIFAR, detection, and localization.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5C4E3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Identity shortcuts are parameter-free and easy to implement.</a:t>
            </a:r>
            <a:endParaRPr lang="en-US" sz="1300" dirty="0"/>
          </a:p>
          <a:p>
            <a:pPr>
              <a:buSzPct val="100000"/>
            </a:pP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663440" y="822960"/>
            <a:ext cx="4160520" cy="3931920"/>
          </a:xfrm>
          <a:prstGeom prst="roundRect">
            <a:avLst>
              <a:gd name="adj" fmla="val 2326"/>
            </a:avLst>
          </a:prstGeom>
          <a:solidFill>
            <a:srgbClr val="EFE9DD"/>
          </a:solidFill>
          <a:ln/>
        </p:spPr>
      </p:sp>
      <p:sp>
        <p:nvSpPr>
          <p:cNvPr id="8" name="Text 6"/>
          <p:cNvSpPr/>
          <p:nvPr/>
        </p:nvSpPr>
        <p:spPr>
          <a:xfrm>
            <a:off x="4846320" y="960120"/>
            <a:ext cx="3794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C6282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Open Questions / Critiques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846320" y="1417320"/>
            <a:ext cx="37947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5C4E3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Mostly empirical; limited theoretical guarantees at the time.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5C4E3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Extreme depth (1000+ layers) still suffers from overfitting.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5C4E3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Later work showed residual unit design details matter a lot</a:t>
            </a:r>
            <a:r>
              <a:rPr lang="en-US" sz="1300" dirty="0" smtClean="0">
                <a:solidFill>
                  <a:srgbClr val="5C4E3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.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3716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C24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LITERATURE REVIEW &amp; CONTEXT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02920" y="850392"/>
            <a:ext cx="201168" cy="201168"/>
          </a:xfrm>
          <a:prstGeom prst="ellipse">
            <a:avLst/>
          </a:prstGeom>
          <a:solidFill>
            <a:srgbClr val="B8956A"/>
          </a:solidFill>
          <a:ln/>
        </p:spPr>
      </p:sp>
      <p:sp>
        <p:nvSpPr>
          <p:cNvPr id="5" name="Shape 3"/>
          <p:cNvSpPr/>
          <p:nvPr/>
        </p:nvSpPr>
        <p:spPr>
          <a:xfrm>
            <a:off x="576072" y="1051560"/>
            <a:ext cx="54864" cy="457200"/>
          </a:xfrm>
          <a:prstGeom prst="rect">
            <a:avLst/>
          </a:prstGeom>
          <a:solidFill>
            <a:srgbClr val="D9CFB8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77724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B8956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2012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920240" y="77724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C241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AlexNet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389120" y="77724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C4E3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Deep CNNs win ImageNet; depth becomes a design goal.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02920" y="1508760"/>
            <a:ext cx="201168" cy="201168"/>
          </a:xfrm>
          <a:prstGeom prst="ellipse">
            <a:avLst/>
          </a:prstGeom>
          <a:solidFill>
            <a:srgbClr val="B8956A"/>
          </a:solidFill>
          <a:ln/>
        </p:spPr>
      </p:sp>
      <p:sp>
        <p:nvSpPr>
          <p:cNvPr id="10" name="Shape 8"/>
          <p:cNvSpPr/>
          <p:nvPr/>
        </p:nvSpPr>
        <p:spPr>
          <a:xfrm>
            <a:off x="576072" y="1709928"/>
            <a:ext cx="54864" cy="457200"/>
          </a:xfrm>
          <a:prstGeom prst="rect">
            <a:avLst/>
          </a:prstGeom>
          <a:solidFill>
            <a:srgbClr val="D9CFB8"/>
          </a:solidFill>
          <a:ln/>
        </p:spPr>
      </p:sp>
      <p:sp>
        <p:nvSpPr>
          <p:cNvPr id="11" name="Text 9"/>
          <p:cNvSpPr/>
          <p:nvPr/>
        </p:nvSpPr>
        <p:spPr>
          <a:xfrm>
            <a:off x="914400" y="1435608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B8956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2014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920240" y="1435608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C241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VGG / GoogLeNet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389120" y="1435608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C4E3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Systematic depth increases (19–22 layers) yield further gains.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02920" y="2167128"/>
            <a:ext cx="201168" cy="201168"/>
          </a:xfrm>
          <a:prstGeom prst="ellipse">
            <a:avLst/>
          </a:prstGeom>
          <a:solidFill>
            <a:srgbClr val="B8956A"/>
          </a:solidFill>
          <a:ln/>
        </p:spPr>
      </p:sp>
      <p:sp>
        <p:nvSpPr>
          <p:cNvPr id="15" name="Shape 13"/>
          <p:cNvSpPr/>
          <p:nvPr/>
        </p:nvSpPr>
        <p:spPr>
          <a:xfrm>
            <a:off x="576072" y="2368296"/>
            <a:ext cx="54864" cy="457200"/>
          </a:xfrm>
          <a:prstGeom prst="rect">
            <a:avLst/>
          </a:prstGeom>
          <a:solidFill>
            <a:srgbClr val="D9CFB8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2093976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B8956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2015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920240" y="2093976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C241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Highway Networks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389120" y="2093976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C4E3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Gated skip connections allow training of very deep nets.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02920" y="2825496"/>
            <a:ext cx="201168" cy="201168"/>
          </a:xfrm>
          <a:prstGeom prst="ellipse">
            <a:avLst/>
          </a:prstGeom>
          <a:solidFill>
            <a:srgbClr val="B8956A"/>
          </a:solidFill>
          <a:ln/>
        </p:spPr>
      </p:sp>
      <p:sp>
        <p:nvSpPr>
          <p:cNvPr id="20" name="Shape 18"/>
          <p:cNvSpPr/>
          <p:nvPr/>
        </p:nvSpPr>
        <p:spPr>
          <a:xfrm>
            <a:off x="576072" y="3026664"/>
            <a:ext cx="54864" cy="457200"/>
          </a:xfrm>
          <a:prstGeom prst="rect">
            <a:avLst/>
          </a:prstGeom>
          <a:solidFill>
            <a:srgbClr val="D9CFB8"/>
          </a:solidFill>
          <a:ln/>
        </p:spPr>
      </p:sp>
      <p:sp>
        <p:nvSpPr>
          <p:cNvPr id="21" name="Text 19"/>
          <p:cNvSpPr/>
          <p:nvPr/>
        </p:nvSpPr>
        <p:spPr>
          <a:xfrm>
            <a:off x="914400" y="2752344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B8956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2015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920240" y="2752344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C241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ResNet (this paper)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389120" y="2752344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C4E3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Identity residual learning; 152-layer nets; ILSVRC dominance.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502920" y="3483864"/>
            <a:ext cx="201168" cy="201168"/>
          </a:xfrm>
          <a:prstGeom prst="ellipse">
            <a:avLst/>
          </a:prstGeom>
          <a:solidFill>
            <a:srgbClr val="B8956A"/>
          </a:solidFill>
          <a:ln/>
        </p:spPr>
      </p:sp>
      <p:sp>
        <p:nvSpPr>
          <p:cNvPr id="26" name="Text 24"/>
          <p:cNvSpPr/>
          <p:nvPr/>
        </p:nvSpPr>
        <p:spPr>
          <a:xfrm>
            <a:off x="914400" y="3410712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B8956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2016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1920240" y="3410712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C241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Identity Mappings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389120" y="3410712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C4E3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He et al. refine residual units (pre-activation) for better training.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914400" y="406908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1920240" y="406908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4389120" y="406908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C24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TAKEAWAYS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502920" cy="502920"/>
          </a:xfrm>
          <a:prstGeom prst="ellipse">
            <a:avLst/>
          </a:prstGeom>
          <a:solidFill>
            <a:srgbClr val="B8956A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8686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188720" y="91440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C4E3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Degradation is an optimization problem, not just a capacity or overfitting problem.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57200" y="1618488"/>
            <a:ext cx="502920" cy="502920"/>
          </a:xfrm>
          <a:prstGeom prst="ellipse">
            <a:avLst/>
          </a:prstGeom>
          <a:solidFill>
            <a:srgbClr val="B8956A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61848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188720" y="1664208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C4E3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Learning residual functions with identity shortcuts makes extremely deep networks trainable.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457200" y="2368296"/>
            <a:ext cx="502920" cy="502920"/>
          </a:xfrm>
          <a:prstGeom prst="ellipse">
            <a:avLst/>
          </a:prstGeom>
          <a:solidFill>
            <a:srgbClr val="B8956A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236829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188720" y="2414016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C4E3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Depth can become a reliable source of accuracy once the optimization barrier is lowered.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457200" y="3118104"/>
            <a:ext cx="502920" cy="502920"/>
          </a:xfrm>
          <a:prstGeom prst="ellipse">
            <a:avLst/>
          </a:prstGeom>
          <a:solidFill>
            <a:srgbClr val="B8956A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311810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188720" y="3163824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C4E3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Simple identity mappings outperform more complex gated shortcuts in this setting.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457200" y="3867912"/>
            <a:ext cx="502920" cy="502920"/>
          </a:xfrm>
          <a:prstGeom prst="ellipse">
            <a:avLst/>
          </a:prstGeom>
          <a:solidFill>
            <a:srgbClr val="B8956A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" y="386791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188720" y="3913632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C4E3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ResNet became the foundation for a large family of residual architectures still used today.</a:t>
            </a:r>
            <a:endParaRPr lang="en-US" sz="15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C24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REFERENCES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65760" y="868680"/>
            <a:ext cx="841248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C4E3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He, K., Zhang, X., Ren, S., &amp; Sun, J. (2016). Deep Residual Learning for Image Recognition. CVPR 2016. arXiv:1512.03385.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5C4E3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He, K., Zhang, X., Ren, S., &amp; Sun, J. (2016). Identity Mappings in Deep Residual Networks. ECCV 2016.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5C4E3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Simonyan, K., &amp; Zisserman, A. (2015). Very Deep Convolutional Networks for Large-Scale Image Recognition. ICLR 2015.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5C4E3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Srivastava, R. K., Greff, K., &amp; Schmidhuber, J. (2015). Highway Networks. arXiv:1505.00387.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5C4E3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Huang, G., et al. (2017). Densely Connected Convolutional Networks. CVPR 2017.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5C4E3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Xie, S., et al. (2017). Aggregated Residual Transformations for Deep Neural Networks (ResNeXt). CVPR 2017.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1291</Words>
  <Application>Microsoft Office PowerPoint</Application>
  <PresentationFormat>On-screen Show (16:9)</PresentationFormat>
  <Paragraphs>263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2" baseType="lpstr">
      <vt:lpstr>Arial</vt:lpstr>
      <vt:lpstr>Calibri</vt:lpstr>
      <vt:lpstr>Courier New</vt:lpstr>
      <vt:lpstr>Georgia</vt:lpstr>
      <vt:lpstr>Helvetica Neue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Deep Residual Learning for Image Recognition</dc:title>
  <dc:subject>PptxGenJS Presentation</dc:subject>
  <dc:creator>Presentation on He et al., 2015</dc:creator>
  <cp:lastModifiedBy>Dell</cp:lastModifiedBy>
  <cp:revision>2</cp:revision>
  <dcterms:created xsi:type="dcterms:W3CDTF">2026-08-02T22:10:59Z</dcterms:created>
  <dcterms:modified xsi:type="dcterms:W3CDTF">2026-08-02T22:38:41Z</dcterms:modified>
</cp:coreProperties>
</file>