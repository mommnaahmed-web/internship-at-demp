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4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00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65760"/>
            <a:ext cx="109728" cy="109728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83880" y="365760"/>
            <a:ext cx="109728" cy="109728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109728" cy="109728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685800"/>
            <a:ext cx="109728" cy="109728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685800"/>
            <a:ext cx="109728" cy="109728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685800"/>
            <a:ext cx="109728" cy="109728"/>
          </a:xfrm>
          <a:prstGeom prst="ellipse">
            <a:avLst/>
          </a:prstGeom>
          <a:solidFill>
            <a:srgbClr val="22D3EE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TIME SERIES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Modeling for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Forecasting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 ·  LSTM  ·  GRU   |   Tesla Stock Price Prediction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Basics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components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construction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→ LSTM → GRU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 &amp; math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· RMSE · R²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37560" y="28803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52044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Experiment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52044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pipeline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2880360"/>
            <a:ext cx="2743200" cy="1463040"/>
          </a:xfrm>
          <a:prstGeom prst="roundRect">
            <a:avLst>
              <a:gd name="adj" fmla="val 75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0" y="3520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Insights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 wins?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Time Series?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A243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data points indexed in time order. Goal: predict future values from past observations.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2011680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direction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 / down / flat)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06040" y="19202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920240"/>
            <a:ext cx="2011680" cy="73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Fixed-period cycles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 / week / year)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9202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920240"/>
            <a:ext cx="2011680" cy="7315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long waves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(business cycles)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03720" y="1920240"/>
            <a:ext cx="2011680" cy="1828800"/>
          </a:xfrm>
          <a:prstGeom prst="roundRect">
            <a:avLst>
              <a:gd name="adj" fmla="val 50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920240"/>
            <a:ext cx="2011680" cy="73152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1945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26974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residual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fluctuations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properties:  Temporal dependency  ·  Order matters  ·  Cannot peek into the future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 →  Sequence-to-One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54864"/>
          </a:xfrm>
          <a:prstGeom prst="rect">
            <a:avLst/>
          </a:prstGeom>
          <a:solidFill>
            <a:srgbClr val="24304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98448"/>
            <a:ext cx="256032" cy="25603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298448"/>
            <a:ext cx="256032" cy="25603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298448"/>
            <a:ext cx="256032" cy="25603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298448"/>
            <a:ext cx="256032" cy="25603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1298448"/>
            <a:ext cx="256032" cy="25603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298448"/>
            <a:ext cx="256032" cy="25603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298448"/>
            <a:ext cx="256032" cy="25603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t7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298448"/>
            <a:ext cx="256032" cy="256032"/>
          </a:xfrm>
          <a:prstGeom prst="ellipse">
            <a:avLst/>
          </a:prstGeom>
          <a:solidFill>
            <a:srgbClr val="6B7A94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1298448"/>
            <a:ext cx="256032" cy="256032"/>
          </a:xfrm>
          <a:prstGeom prst="ellipse">
            <a:avLst/>
          </a:prstGeom>
          <a:solidFill>
            <a:srgbClr val="6B7A94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1298448"/>
            <a:ext cx="256032" cy="256032"/>
          </a:xfrm>
          <a:prstGeom prst="ellipse">
            <a:avLst/>
          </a:prstGeom>
          <a:solidFill>
            <a:srgbClr val="6B7A94"/>
          </a:solidFill>
          <a:ln/>
        </p:spPr>
      </p:sp>
      <p:sp>
        <p:nvSpPr>
          <p:cNvPr id="25" name="Text 23"/>
          <p:cNvSpPr/>
          <p:nvPr/>
        </p:nvSpPr>
        <p:spPr>
          <a:xfrm>
            <a:off x="7909560" y="160020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A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1051560"/>
            <a:ext cx="4572000" cy="201168"/>
          </a:xfrm>
          <a:prstGeom prst="roundRect">
            <a:avLst>
              <a:gd name="adj" fmla="val 22727"/>
            </a:avLst>
          </a:prstGeom>
          <a:solidFill>
            <a:srgbClr val="22D3EE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822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WINDOW  (w = 60 days)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212080" y="1234440"/>
            <a:ext cx="640080" cy="365760"/>
          </a:xfrm>
          <a:prstGeom prst="rightArrow">
            <a:avLst/>
          </a:prstGeom>
          <a:solidFill>
            <a:srgbClr val="34D399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822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210312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" y="27432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Take last w values as input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Predict the next single value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Slide window one step forward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Repeat for entire series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Sequence-to-One forecasting.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663440" y="210312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form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46320" y="27432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08" t="42196" r="17375" b="33730"/>
          <a:stretch/>
        </p:blipFill>
        <p:spPr>
          <a:xfrm>
            <a:off x="5074920" y="2788920"/>
            <a:ext cx="1985818" cy="12376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RNN — The Building Block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68680" y="3200400"/>
            <a:ext cx="640080" cy="64008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43000" y="2606040"/>
            <a:ext cx="54864" cy="594360"/>
          </a:xfrm>
          <a:prstGeom prst="rect">
            <a:avLst/>
          </a:prstGeom>
          <a:solidFill>
            <a:srgbClr val="6B7A9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373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121A2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20240" y="1965960"/>
            <a:ext cx="502920" cy="32004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11" name="Shape 9"/>
          <p:cNvSpPr/>
          <p:nvPr/>
        </p:nvSpPr>
        <p:spPr>
          <a:xfrm>
            <a:off x="2880360" y="3200400"/>
            <a:ext cx="640080" cy="64008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54680" y="2606040"/>
            <a:ext cx="54864" cy="594360"/>
          </a:xfrm>
          <a:prstGeom prst="rect">
            <a:avLst/>
          </a:prstGeom>
          <a:solidFill>
            <a:srgbClr val="6B7A94"/>
          </a:solidFill>
          <a:ln/>
        </p:spPr>
      </p:sp>
      <p:sp>
        <p:nvSpPr>
          <p:cNvPr id="14" name="Shape 12"/>
          <p:cNvSpPr/>
          <p:nvPr/>
        </p:nvSpPr>
        <p:spPr>
          <a:xfrm>
            <a:off x="2560320" y="17373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121A2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1920" y="1965960"/>
            <a:ext cx="502920" cy="32004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x₃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166360" y="2606040"/>
            <a:ext cx="54864" cy="594360"/>
          </a:xfrm>
          <a:prstGeom prst="rect">
            <a:avLst/>
          </a:prstGeom>
          <a:solidFill>
            <a:srgbClr val="6B7A9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17373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121A2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h₃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0" y="1965960"/>
            <a:ext cx="502920" cy="32004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200400"/>
            <a:ext cx="640080" cy="64008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3375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78040" y="2606040"/>
            <a:ext cx="54864" cy="594360"/>
          </a:xfrm>
          <a:prstGeom prst="rect">
            <a:avLst/>
          </a:prstGeom>
          <a:solidFill>
            <a:srgbClr val="6B7A94"/>
          </a:solidFill>
          <a:ln/>
        </p:spPr>
      </p:sp>
      <p:sp>
        <p:nvSpPr>
          <p:cNvPr id="26" name="Shape 24"/>
          <p:cNvSpPr/>
          <p:nvPr/>
        </p:nvSpPr>
        <p:spPr>
          <a:xfrm>
            <a:off x="6583680" y="173736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121A2B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965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A243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hₜ  =  tanh(  Wₓ · xₜ  +  Wₕ · hₜ₋₁  +  b  )     ·     Problem: vanishing gradients on long sequences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 vs  GRU  —  Gating Mechanisms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9144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Short-Term Memory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A243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discard from cell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A243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88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new info to store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1A24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29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expose as hₜ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51560"/>
            <a:ext cx="4114800" cy="914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0" y="1645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Recurrent Unit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1A2438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377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past to forget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063240"/>
            <a:ext cx="3566160" cy="640080"/>
          </a:xfrm>
          <a:prstGeom prst="roundRect">
            <a:avLst>
              <a:gd name="adj" fmla="val 11429"/>
            </a:avLst>
          </a:prstGeom>
          <a:solidFill>
            <a:srgbClr val="1A2438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3154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old vs new state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gates → fewer parameters → often faster training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Forecast Quality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91440" cy="15087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¹⁄ₙ Σ |y − ŷ|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in $ units. Easy to interpret.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097280"/>
            <a:ext cx="91440" cy="15087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749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¹⁄ₙ Σ (y − ŷ)²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errors → big mistakes hurt more.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91440" cy="1508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 MSE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units as price. Standard accuracy metric.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278892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788920"/>
            <a:ext cx="91440" cy="150876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50749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74920" y="3337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1 − SSᵣₑₛ/SSₜₒₜ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749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explained. 1 = perfect, 0 = mean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 Stock Price Prediction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34440"/>
            <a:ext cx="548640" cy="54864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53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3432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1691640"/>
            <a:ext cx="182880" cy="228600"/>
          </a:xfrm>
          <a:prstGeom prst="rightArrow">
            <a:avLst/>
          </a:prstGeom>
          <a:solidFill>
            <a:srgbClr val="6B7A94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109728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51760" y="1234440"/>
            <a:ext cx="548640" cy="54864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353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24028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4028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1691640"/>
            <a:ext cx="182880" cy="228600"/>
          </a:xfrm>
          <a:prstGeom prst="rightArrow">
            <a:avLst/>
          </a:prstGeom>
          <a:solidFill>
            <a:srgbClr val="6B7A94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109728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1234440"/>
            <a:ext cx="548640" cy="54864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353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2336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1691640"/>
            <a:ext cx="182880" cy="228600"/>
          </a:xfrm>
          <a:prstGeom prst="rightArrow">
            <a:avLst/>
          </a:prstGeom>
          <a:solidFill>
            <a:srgbClr val="6B7A94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5000" y="109728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234440"/>
            <a:ext cx="548640" cy="54864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353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0644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80644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RNN/LSTM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1691640"/>
            <a:ext cx="182880" cy="228600"/>
          </a:xfrm>
          <a:prstGeom prst="rightArrow">
            <a:avLst/>
          </a:prstGeom>
          <a:solidFill>
            <a:srgbClr val="6B7A94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1097280"/>
            <a:ext cx="1600200" cy="1554480"/>
          </a:xfrm>
          <a:prstGeom prst="roundRect">
            <a:avLst>
              <a:gd name="adj" fmla="val 588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01000" y="1234440"/>
            <a:ext cx="548640" cy="548640"/>
          </a:xfrm>
          <a:prstGeom prst="ellipse">
            <a:avLst/>
          </a:prstGeom>
          <a:solidFill>
            <a:srgbClr val="1A2438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1353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895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589520" y="21488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RMSE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29260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2438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2024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337560" y="29260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2438"/>
          </a:solidFill>
          <a:ln/>
        </p:spPr>
      </p:sp>
      <p:sp>
        <p:nvSpPr>
          <p:cNvPr id="38" name="Text 36"/>
          <p:cNvSpPr/>
          <p:nvPr/>
        </p:nvSpPr>
        <p:spPr>
          <a:xfrm>
            <a:off x="352044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52044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3,432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17920" y="29260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2438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30175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price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7200" y="37947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2438"/>
          </a:solidFill>
          <a:ln/>
        </p:spPr>
      </p:sp>
      <p:sp>
        <p:nvSpPr>
          <p:cNvPr id="44" name="Text 42"/>
          <p:cNvSpPr/>
          <p:nvPr/>
        </p:nvSpPr>
        <p:spPr>
          <a:xfrm>
            <a:off x="640080" y="3886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4142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337560" y="37947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2438"/>
          </a:solidFill>
          <a:ln/>
        </p:spPr>
      </p:sp>
      <p:sp>
        <p:nvSpPr>
          <p:cNvPr id="47" name="Text 45"/>
          <p:cNvSpPr/>
          <p:nvPr/>
        </p:nvSpPr>
        <p:spPr>
          <a:xfrm>
            <a:off x="3520440" y="3886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520440" y="4142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17920" y="37947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1A2438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0" y="3886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00800" y="4142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1920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($)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EE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4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210.97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217.47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−13.03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A8B4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 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30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20040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$15 · R² 0.86</a:t>
            </a:r>
            <a:endParaRPr lang="en-US" sz="1300" dirty="0"/>
          </a:p>
        </p:txBody>
      </p:sp>
      <p:sp>
        <p:nvSpPr>
          <p:cNvPr id="5" name="Shape 7"/>
          <p:cNvSpPr/>
          <p:nvPr/>
        </p:nvSpPr>
        <p:spPr>
          <a:xfrm>
            <a:off x="3337560" y="320040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2044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Train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52044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52044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427 seconds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2743200" cy="1234440"/>
          </a:xfrm>
          <a:prstGeom prst="roundRect">
            <a:avLst>
              <a:gd name="adj" fmla="val 7407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3337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Tuning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00800" y="40233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R² this run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4828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527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1612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won this race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 &amp; R² on Tesla 60-day forecasts. Fewer parameters than LSTM, better than plain RNN.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21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0299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 matters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3317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 ≈ 3 months. Too short → loses context. Too long → vanishing gradients &amp; slow training.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900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8986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is a baseline only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but struggles with long dependencies. Use it to sanity-check harder models.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21A2B"/>
          </a:solidFill>
          <a:ln w="12700">
            <a:solidFill>
              <a:srgbClr val="243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587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767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needs care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but sensitive to learning rate, epochs, and regularization. Negative R² means under/over-fit.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620</Words>
  <Application>Microsoft Office PowerPoint</Application>
  <PresentationFormat>On-screen Show (16:9)</PresentationFormat>
  <Paragraphs>202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Sequence Modeling for Time-Series Forecasting</dc:title>
  <dc:subject>PptxGenJS Presentation</dc:subject>
  <dc:creator>Stock Price Prediction Project</dc:creator>
  <cp:lastModifiedBy>Dell</cp:lastModifiedBy>
  <cp:revision>2</cp:revision>
  <dcterms:created xsi:type="dcterms:W3CDTF">2026-07-30T06:03:24Z</dcterms:created>
  <dcterms:modified xsi:type="dcterms:W3CDTF">2026-07-30T06:11:25Z</dcterms:modified>
</cp:coreProperties>
</file>