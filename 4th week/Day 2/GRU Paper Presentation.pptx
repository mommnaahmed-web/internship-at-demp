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Vanilla RNN</c:v>
                </c:pt>
              </c:strCache>
            </c:strRef>
          </c:tx>
          <c:spPr>
            <a:ln w="31750" cap="flat">
              <a:solidFill>
                <a:srgbClr val="F2A93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t=1</c:v>
                </c:pt>
                <c:pt idx="1">
                  <c:v>t=5</c:v>
                </c:pt>
                <c:pt idx="2">
                  <c:v>t=10</c:v>
                </c:pt>
                <c:pt idx="3">
                  <c:v>t=15</c:v>
                </c:pt>
                <c:pt idx="4">
                  <c:v>t=20</c:v>
                </c:pt>
                <c:pt idx="5">
                  <c:v>t=25</c:v>
                </c:pt>
                <c:pt idx="6">
                  <c:v>t=30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0.55000000000000004</c:v>
                </c:pt>
                <c:pt idx="2">
                  <c:v>0.28000000000000003</c:v>
                </c:pt>
                <c:pt idx="3">
                  <c:v>0.13</c:v>
                </c:pt>
                <c:pt idx="4">
                  <c:v>0.06</c:v>
                </c:pt>
                <c:pt idx="5">
                  <c:v>0.02</c:v>
                </c:pt>
                <c:pt idx="6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8D-4211-8ADD-A1FC02AC60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Gated Unit (GRU/LSTM)</c:v>
                </c:pt>
              </c:strCache>
            </c:strRef>
          </c:tx>
          <c:spPr>
            <a:ln w="31750" cap="flat">
              <a:solidFill>
                <a:srgbClr val="6FCF9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6FCF97"/>
              </a:solidFill>
              <a:ln w="9525" cap="flat">
                <a:solidFill>
                  <a:srgbClr val="6FCF97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t=1</c:v>
                </c:pt>
                <c:pt idx="1">
                  <c:v>t=5</c:v>
                </c:pt>
                <c:pt idx="2">
                  <c:v>t=10</c:v>
                </c:pt>
                <c:pt idx="3">
                  <c:v>t=15</c:v>
                </c:pt>
                <c:pt idx="4">
                  <c:v>t=20</c:v>
                </c:pt>
                <c:pt idx="5">
                  <c:v>t=25</c:v>
                </c:pt>
                <c:pt idx="6">
                  <c:v>t=30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0.93</c:v>
                </c:pt>
                <c:pt idx="2">
                  <c:v>0.87</c:v>
                </c:pt>
                <c:pt idx="3">
                  <c:v>0.81</c:v>
                </c:pt>
                <c:pt idx="4">
                  <c:v>0.76</c:v>
                </c:pt>
                <c:pt idx="5">
                  <c:v>0.71</c:v>
                </c:pt>
                <c:pt idx="6">
                  <c:v>0.67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8D-4211-8ADD-A1FC02AC6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4C6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DCEB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2C3E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A4C6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DCEBF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tanh RNN</c:v>
                </c:pt>
              </c:strCache>
            </c:strRef>
          </c:tx>
          <c:spPr>
            <a:solidFill>
              <a:srgbClr val="5A6B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Nottingham</c:v>
                </c:pt>
                <c:pt idx="1">
                  <c:v>JSB Chorales</c:v>
                </c:pt>
                <c:pt idx="2">
                  <c:v>MuseData</c:v>
                </c:pt>
                <c:pt idx="3">
                  <c:v>Piano-midi.de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3.43</c:v>
                </c:pt>
                <c:pt idx="1">
                  <c:v>8.82</c:v>
                </c:pt>
                <c:pt idx="2">
                  <c:v>8.16</c:v>
                </c:pt>
                <c:pt idx="3">
                  <c:v>8.02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CA-4DD3-B7FA-82DF49B731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GRU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Nottingham</c:v>
                </c:pt>
                <c:pt idx="1">
                  <c:v>JSB Chorales</c:v>
                </c:pt>
                <c:pt idx="2">
                  <c:v>MuseData</c:v>
                </c:pt>
                <c:pt idx="3">
                  <c:v>Piano-midi.de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3.13</c:v>
                </c:pt>
                <c:pt idx="1">
                  <c:v>8.5399999999999991</c:v>
                </c:pt>
                <c:pt idx="2">
                  <c:v>8.67</c:v>
                </c:pt>
                <c:pt idx="3">
                  <c:v>8.82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CA-4DD3-B7FA-82DF49B731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Nottingham</c:v>
                </c:pt>
                <c:pt idx="1">
                  <c:v>JSB Chorales</c:v>
                </c:pt>
                <c:pt idx="2">
                  <c:v>MuseData</c:v>
                </c:pt>
                <c:pt idx="3">
                  <c:v>Piano-midi.de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3.29</c:v>
                </c:pt>
                <c:pt idx="1">
                  <c:v>8.61</c:v>
                </c:pt>
                <c:pt idx="2">
                  <c:v>8.5</c:v>
                </c:pt>
                <c:pt idx="3">
                  <c:v>8.61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3CA-4DD3-B7FA-82DF49B731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82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A6B82"/>
                    </a:solidFill>
                    <a:latin typeface="Arial"/>
                  </a:rPr>
                  <a:t>Avg. Negative Log-Likelihood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tanh RNN</c:v>
                </c:pt>
              </c:strCache>
            </c:strRef>
          </c:tx>
          <c:spPr>
            <a:ln w="31750" cap="flat">
              <a:solidFill>
                <a:srgbClr val="5A6B8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5A6B82"/>
              </a:solidFill>
              <a:ln w="9525" cap="flat">
                <a:solidFill>
                  <a:srgbClr val="5A6B8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Epoch 1</c:v>
                </c:pt>
                <c:pt idx="1">
                  <c:v>Epoch 5</c:v>
                </c:pt>
                <c:pt idx="2">
                  <c:v>Epoch 10</c:v>
                </c:pt>
                <c:pt idx="3">
                  <c:v>Epoch 15</c:v>
                </c:pt>
                <c:pt idx="4">
                  <c:v>Epoch 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9.8000000000000007</c:v>
                </c:pt>
                <c:pt idx="1">
                  <c:v>8.1</c:v>
                </c:pt>
                <c:pt idx="2">
                  <c:v>7.4</c:v>
                </c:pt>
                <c:pt idx="3">
                  <c:v>7</c:v>
                </c:pt>
                <c:pt idx="4">
                  <c:v>6.9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EF-4A3D-BA28-10A19004D0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GRU</c:v>
                </c:pt>
              </c:strCache>
            </c:strRef>
          </c:tx>
          <c:spPr>
            <a:ln w="31750" cap="flat">
              <a:solidFill>
                <a:srgbClr val="2E86A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Epoch 1</c:v>
                </c:pt>
                <c:pt idx="1">
                  <c:v>Epoch 5</c:v>
                </c:pt>
                <c:pt idx="2">
                  <c:v>Epoch 10</c:v>
                </c:pt>
                <c:pt idx="3">
                  <c:v>Epoch 15</c:v>
                </c:pt>
                <c:pt idx="4">
                  <c:v>Epoch 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8.9</c:v>
                </c:pt>
                <c:pt idx="1">
                  <c:v>6.3</c:v>
                </c:pt>
                <c:pt idx="2">
                  <c:v>5.2</c:v>
                </c:pt>
                <c:pt idx="3">
                  <c:v>4.7</c:v>
                </c:pt>
                <c:pt idx="4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EF-4A3D-BA28-10A19004D0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LSTM</c:v>
                </c:pt>
              </c:strCache>
            </c:strRef>
          </c:tx>
          <c:spPr>
            <a:ln w="31750" cap="flat">
              <a:solidFill>
                <a:srgbClr val="F2A93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Epoch 1</c:v>
                </c:pt>
                <c:pt idx="1">
                  <c:v>Epoch 5</c:v>
                </c:pt>
                <c:pt idx="2">
                  <c:v>Epoch 10</c:v>
                </c:pt>
                <c:pt idx="3">
                  <c:v>Epoch 15</c:v>
                </c:pt>
                <c:pt idx="4">
                  <c:v>Epoch 20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9.1</c:v>
                </c:pt>
                <c:pt idx="1">
                  <c:v>6.5</c:v>
                </c:pt>
                <c:pt idx="2">
                  <c:v>5.3</c:v>
                </c:pt>
                <c:pt idx="3">
                  <c:v>4.5999999999999996</c:v>
                </c:pt>
                <c:pt idx="4">
                  <c:v>4.4000000000000004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5EF-4A3D-BA28-10A19004D0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A6B82"/>
                    </a:solidFill>
                    <a:latin typeface="Arial"/>
                  </a:defRPr>
                </a:pPr>
                <a:r>
                  <a:rPr lang="en-US" sz="1050" b="0" i="0" u="none" strike="noStrike">
                    <a:solidFill>
                      <a:srgbClr val="5A6B82"/>
                    </a:solidFill>
                    <a:latin typeface="Arial"/>
                  </a:rPr>
                  <a:t>Training Loss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522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REVIEW  ·  CHUNG, GULCEHRE, CHO &amp; BENGIO (2014)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Evaluation of Gated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Recurrent Neural Networks on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Modeling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how GRU and LSTM gates help RNNs remember what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 ·  Architecture  ·  GRU vs. LSTM  ·  Results  · 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Recurrent Networks Need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RNNs process sequences step by step, but struggle to carry information across many time steps — motivating gated units like LSTM and GRU.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64008" cy="713232"/>
          </a:xfrm>
          <a:prstGeom prst="roundRect">
            <a:avLst>
              <a:gd name="adj" fmla="val 28571"/>
            </a:avLst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3230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Vanishing gradients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7249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signals shrink exponentially through long sequences, so early inputs stop influencing learning.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64008" cy="713232"/>
          </a:xfrm>
          <a:prstGeom prst="roundRect">
            <a:avLst>
              <a:gd name="adj" fmla="val 28571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4670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selective memory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6393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vanilla RNN can't decide what to keep or forget — every new input overwrites the hidden state.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5577840" cy="1600200"/>
          </a:xfrm>
          <a:prstGeom prst="roundRect">
            <a:avLst>
              <a:gd name="adj" fmla="val 4571"/>
            </a:avLst>
          </a:prstGeom>
          <a:solidFill>
            <a:srgbClr val="EAF2F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572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question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8920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gated units (LSTM, GRU) really outperform simple tanh units — and how do LSTM and GRU compare to each other?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92240" y="150876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7190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SIGNAL STRENGTH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2011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increasing sequence length</a:t>
            </a:r>
            <a:endParaRPr lang="en-US" sz="10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812280" y="2331720"/>
          <a:ext cx="44805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6858000" y="58064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trend — conceptual, not paper data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Sequence Modeling — Chung et al., 2014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GRU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Gated Recurrent Unit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GRU controls information flow with two gates — simpler than an LSTM's three — while still learning what to keep and discard.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29200" cy="4251960"/>
          </a:xfrm>
          <a:prstGeom prst="roundRect">
            <a:avLst>
              <a:gd name="adj" fmla="val 2151"/>
            </a:avLst>
          </a:prstGeom>
          <a:solidFill>
            <a:srgbClr val="EAF2FA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12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CELL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4389120" cy="896112"/>
          </a:xfrm>
          <a:prstGeom prst="roundRect">
            <a:avLst>
              <a:gd name="adj" fmla="val 7143"/>
            </a:avLst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426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Gate  rₜ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9535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of the past to forget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3593592"/>
            <a:ext cx="4389120" cy="896112"/>
          </a:xfrm>
          <a:prstGeom prst="roundRect">
            <a:avLst>
              <a:gd name="adj" fmla="val 7143"/>
            </a:avLst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6758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Gate  zₜ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98678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of the new state to accept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4626864"/>
            <a:ext cx="4389120" cy="896112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709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State  h̃ₜ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502005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new memory content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291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xₜ + previous state hₜ₋₁  →  gates  →  new state hₜ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1965960"/>
            <a:ext cx="5760720" cy="932688"/>
          </a:xfrm>
          <a:prstGeom prst="roundRect">
            <a:avLst>
              <a:gd name="adj" fmla="val 6863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23500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zₜ = σ(W_z·xₜ + U_z·hₜ₋₁)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852160" y="3017520"/>
            <a:ext cx="5760720" cy="932688"/>
          </a:xfrm>
          <a:prstGeom prst="roundRect">
            <a:avLst>
              <a:gd name="adj" fmla="val 6863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34015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rₜ = σ(W_r·xₜ + U_r·hₜ₋₁)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852160" y="4069080"/>
            <a:ext cx="5760720" cy="932688"/>
          </a:xfrm>
          <a:prstGeom prst="roundRect">
            <a:avLst>
              <a:gd name="adj" fmla="val 6863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state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44531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h̃ₜ = tanh(W·xₜ + U·(rₜ⊙hₜ₋₁))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852160" y="5120640"/>
            <a:ext cx="5760720" cy="932688"/>
          </a:xfrm>
          <a:prstGeom prst="roundRect">
            <a:avLst>
              <a:gd name="adj" fmla="val 6863"/>
            </a:avLst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5212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hidden state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55046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hₜ = (1−zₜ)⊙hₜ₋₁ + zₜ⊙h̃ₜ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52160" y="62179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sigmoid (0–1 gate)      ⊙ = elementwise multiplication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Sequence Modeling — Chung et al., 2014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GRU VS. LSTM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Build a Memory Cell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merges the hidden and cell state into one vector with two gates; LSTM keeps them separate with three.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425196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4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gates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(update, reset)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(input, forget, output)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representation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hidden state hₜ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cell state cₜ + hidden state hₜ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— roughly 3× weight matrices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— roughly 4× weight matrices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gating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separate output 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output gate controls exposure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per update (fewer params)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per update, more capacity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measured by paper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to LSTM; often edges ahead on some tasks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to GRU; no consistent overall winner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Sequence Modeling — Chung et al., 2014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EXPERIMENTAL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Polyphonic Music Modeling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Nottingham, JSB Chorales, MuseData &amp; Piano-midi.de to predict the next notes played. Lower NLL = better.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110642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values based on reported trends in the paper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Sequence Modeling — Chung et al., 2014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EXPERIMENTAL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Modeling &amp; Key Findings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raw speech, gated units again outperform the tanh RNN — and the LSTM vs. GRU gap narrows further.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704088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72668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26680" y="2148840"/>
            <a:ext cx="64008" cy="713232"/>
          </a:xfrm>
          <a:prstGeom prst="roundRect">
            <a:avLst>
              <a:gd name="adj" fmla="val 28571"/>
            </a:avLst>
          </a:prstGeom>
          <a:solidFill>
            <a:srgbClr val="F2A93B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211226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 beats plain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55280" y="240487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GRU and LSTM consistently outperform vanilla tanh RNNs.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26680" y="3200400"/>
            <a:ext cx="64008" cy="713232"/>
          </a:xfrm>
          <a:prstGeom prst="roundRect">
            <a:avLst>
              <a:gd name="adj" fmla="val 28571"/>
            </a:avLst>
          </a:prstGeom>
          <a:solidFill>
            <a:srgbClr val="2E86AB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0" y="316382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 ≈ LSTM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955280" y="34564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dominates — performance is task-dependent and close.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26680" y="4251960"/>
            <a:ext cx="64008" cy="713232"/>
          </a:xfrm>
          <a:prstGeom prst="roundRect">
            <a:avLst>
              <a:gd name="adj" fmla="val 28571"/>
            </a:avLst>
          </a:prstGeom>
          <a:solidFill>
            <a:srgbClr val="2E9E5B"/>
          </a:solidFill>
          <a:ln/>
        </p:spPr>
      </p:sp>
      <p:sp>
        <p:nvSpPr>
          <p:cNvPr id="14" name="Text 11"/>
          <p:cNvSpPr/>
          <p:nvPr/>
        </p:nvSpPr>
        <p:spPr>
          <a:xfrm>
            <a:off x="7955280" y="421538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edge to GRU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955280" y="45079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 often mean less computation for similar results.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263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training curves based on reported trends in the paper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Sequence Modeling — Chung et al., 2014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ADVANTAGES &amp;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Paper Found — and Didn't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548640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5440680" cy="2743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64008" cy="713232"/>
          </a:xfrm>
          <a:prstGeom prst="roundRect">
            <a:avLst>
              <a:gd name="adj" fmla="val 28571"/>
            </a:avLst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408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6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parameters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51560" y="26334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gates mean less computation and memory per cell — faster training.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64008" cy="713232"/>
          </a:xfrm>
          <a:prstGeom prst="roundRect">
            <a:avLst>
              <a:gd name="adj" fmla="val 28571"/>
            </a:avLst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5753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6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Simpler to tune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560" y="38679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hyperparameters and moving parts than LSTM.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846320"/>
            <a:ext cx="64008" cy="713232"/>
          </a:xfrm>
          <a:prstGeom prst="roundRect">
            <a:avLst>
              <a:gd name="adj" fmla="val 28571"/>
            </a:avLst>
          </a:prstGeom>
          <a:solidFill>
            <a:srgbClr val="2E9E5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809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6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performance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51560" y="51023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or approaches LSTM accuracy on both tasks tested.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4406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1600200"/>
            <a:ext cx="5440680" cy="54864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263640" y="1874520"/>
            <a:ext cx="544068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600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2377440"/>
            <a:ext cx="64008" cy="713232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23408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universal winner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66560" y="26334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isn't proven strictly better than LSTM — results are task-dependent.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3611880"/>
            <a:ext cx="64008" cy="713232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5753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output gate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66560" y="38679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fine-grained control over what's exposed downstream.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4846320"/>
            <a:ext cx="64008" cy="713232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809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task coverage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766560" y="51023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music and speech modeling are tested; other domains unshown.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Sequence Modeling — Chung et al., 2014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PRACTICAL APPLICATIONS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GRUs Show Up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AF2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2057400"/>
          </a:xfrm>
          <a:prstGeom prst="roundRect">
            <a:avLst>
              <a:gd name="adj" fmla="val 25000"/>
            </a:avLst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476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Translation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Sequence-to-sequence encoders/decoders for translating between languages.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AF2FA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691640"/>
            <a:ext cx="73152" cy="205740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9476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Generation &amp; NLP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514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modeling, chatbots, and sentiment analysis pipelines.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AF2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691640"/>
            <a:ext cx="73152" cy="2057400"/>
          </a:xfrm>
          <a:prstGeom prst="roundRect">
            <a:avLst>
              <a:gd name="adj" fmla="val 25000"/>
            </a:avLst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19476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Recognition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58200" y="2514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acoustic sequences for transcription systems.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AF2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77640"/>
            <a:ext cx="73152" cy="2057400"/>
          </a:xfrm>
          <a:prstGeom prst="roundRect">
            <a:avLst>
              <a:gd name="adj" fmla="val 25000"/>
            </a:avLst>
          </a:prstGeom>
          <a:solidFill>
            <a:srgbClr val="2E9E5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336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Forecasting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800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prices, weather, and sensor-data prediction.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9776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AF2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3977640"/>
            <a:ext cx="73152" cy="205740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42336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Monitoring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4800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physiological signal streams like ECG/EEG over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9776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AF2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138160" y="3977640"/>
            <a:ext cx="73152" cy="2057400"/>
          </a:xfrm>
          <a:prstGeom prst="roundRect">
            <a:avLst>
              <a:gd name="adj" fmla="val 25000"/>
            </a:avLst>
          </a:prstGeom>
          <a:solidFill>
            <a:srgbClr val="6D4C8A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42336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&amp; Sequence Generation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58200" y="4800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melodies or symbolic sequences, as in the original paper.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Sequence Modeling — Chung et al., 2014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9659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mechanisms (GRU, LSTM) solve the vanishing-gradient weakness of vanilla RNNs.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2788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GRU's 2-gate design (update + reset) is a lighter alternative to LSTM's 3-gate design.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6118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Empirically, GRU and LSTM perform comparably — with GRU often more efficient per parameter.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between them is a practical trade-off: efficiency (GRU) vs. expressiveness (LSTM).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21D3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Chung, J., Gulcehre, C., Cho, K., &amp; Bengio, Y. (2014). Empirical Evaluation of Gated Recurrent Neural Networks on Sequence Modeling. arXiv:1412.3555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Sequence Modeling — Chung et al., 2014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947</Words>
  <Application>Microsoft Office PowerPoint</Application>
  <PresentationFormat>Widescreen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2026-07-30T05:58:46Z</dcterms:created>
  <dcterms:modified xsi:type="dcterms:W3CDTF">2026-07-30T06:23:58Z</dcterms:modified>
</cp:coreProperties>
</file>