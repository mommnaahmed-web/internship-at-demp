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42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15637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B8956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C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LONG SHORT-TERM MEMORY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C4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Landmark Paper in Sequential Modeling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3200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Sepp Hochreiter  &amp;  Jurgen Schmidhuber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6118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7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 1997   ·   Neural Computation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7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/  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9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Traditional RNNs Fail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822960" cy="822960"/>
          </a:xfrm>
          <a:prstGeom prst="ellipse">
            <a:avLst/>
          </a:prstGeom>
          <a:solidFill>
            <a:srgbClr val="EFE9DD"/>
          </a:solidFill>
          <a:ln w="19050">
            <a:solidFill>
              <a:srgbClr val="B8956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087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508760" y="1554480"/>
            <a:ext cx="640080" cy="274320"/>
          </a:xfrm>
          <a:prstGeom prst="rightArrow">
            <a:avLst/>
          </a:prstGeom>
          <a:solidFill>
            <a:srgbClr val="D4B483"/>
          </a:solidFill>
          <a:ln/>
        </p:spPr>
      </p:sp>
      <p:sp>
        <p:nvSpPr>
          <p:cNvPr id="8" name="Shape 6"/>
          <p:cNvSpPr/>
          <p:nvPr/>
        </p:nvSpPr>
        <p:spPr>
          <a:xfrm>
            <a:off x="2286000" y="1280160"/>
            <a:ext cx="822960" cy="822960"/>
          </a:xfrm>
          <a:prstGeom prst="ellipse">
            <a:avLst/>
          </a:prstGeom>
          <a:solidFill>
            <a:srgbClr val="EFE9DD"/>
          </a:solidFill>
          <a:ln w="19050">
            <a:solidFill>
              <a:srgbClr val="B8956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15087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x2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154680" y="1554480"/>
            <a:ext cx="640080" cy="274320"/>
          </a:xfrm>
          <a:prstGeom prst="rightArrow">
            <a:avLst/>
          </a:prstGeom>
          <a:solidFill>
            <a:srgbClr val="D4B483"/>
          </a:solidFill>
          <a:ln/>
        </p:spPr>
      </p:sp>
      <p:sp>
        <p:nvSpPr>
          <p:cNvPr id="11" name="Shape 9"/>
          <p:cNvSpPr/>
          <p:nvPr/>
        </p:nvSpPr>
        <p:spPr>
          <a:xfrm>
            <a:off x="3931920" y="1280160"/>
            <a:ext cx="822960" cy="822960"/>
          </a:xfrm>
          <a:prstGeom prst="ellipse">
            <a:avLst/>
          </a:prstGeom>
          <a:solidFill>
            <a:srgbClr val="EFE9DD"/>
          </a:solidFill>
          <a:ln w="19050">
            <a:solidFill>
              <a:srgbClr val="B8956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31920" y="15087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x3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00600" y="1554480"/>
            <a:ext cx="640080" cy="274320"/>
          </a:xfrm>
          <a:prstGeom prst="rightArrow">
            <a:avLst/>
          </a:prstGeom>
          <a:solidFill>
            <a:srgbClr val="D4B483"/>
          </a:solidFill>
          <a:ln/>
        </p:spPr>
      </p:sp>
      <p:sp>
        <p:nvSpPr>
          <p:cNvPr id="14" name="Shape 12"/>
          <p:cNvSpPr/>
          <p:nvPr/>
        </p:nvSpPr>
        <p:spPr>
          <a:xfrm>
            <a:off x="5577840" y="1280160"/>
            <a:ext cx="822960" cy="822960"/>
          </a:xfrm>
          <a:prstGeom prst="ellipse">
            <a:avLst/>
          </a:prstGeom>
          <a:solidFill>
            <a:srgbClr val="EFE9DD"/>
          </a:solidFill>
          <a:ln w="19050">
            <a:solidFill>
              <a:srgbClr val="B8956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77840" y="15087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46520" y="1554480"/>
            <a:ext cx="640080" cy="274320"/>
          </a:xfrm>
          <a:prstGeom prst="rightArrow">
            <a:avLst/>
          </a:prstGeom>
          <a:solidFill>
            <a:srgbClr val="D4B483"/>
          </a:solidFill>
          <a:ln/>
        </p:spPr>
      </p:sp>
      <p:sp>
        <p:nvSpPr>
          <p:cNvPr id="17" name="Shape 15"/>
          <p:cNvSpPr/>
          <p:nvPr/>
        </p:nvSpPr>
        <p:spPr>
          <a:xfrm>
            <a:off x="7223760" y="1280160"/>
            <a:ext cx="822960" cy="822960"/>
          </a:xfrm>
          <a:prstGeom prst="ellipse">
            <a:avLst/>
          </a:prstGeom>
          <a:solidFill>
            <a:srgbClr val="EFE9DD"/>
          </a:solidFill>
          <a:ln w="19050">
            <a:solidFill>
              <a:srgbClr val="B8956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23760" y="15087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2286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C4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fades as it travels through many time steps → Vanishing Gradient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2880360"/>
            <a:ext cx="2011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2880360"/>
            <a:ext cx="73152" cy="1417320"/>
          </a:xfrm>
          <a:prstGeom prst="rect">
            <a:avLst/>
          </a:prstGeom>
          <a:solidFill>
            <a:srgbClr val="B8956C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1089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Modeling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" y="37033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7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context needed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606040" y="2880360"/>
            <a:ext cx="2011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606040" y="2880360"/>
            <a:ext cx="73152" cy="1417320"/>
          </a:xfrm>
          <a:prstGeom prst="rect">
            <a:avLst/>
          </a:prstGeom>
          <a:solidFill>
            <a:srgbClr val="B8956C"/>
          </a:solidFill>
          <a:ln/>
        </p:spPr>
      </p:sp>
      <p:sp>
        <p:nvSpPr>
          <p:cNvPr id="26" name="Text 24"/>
          <p:cNvSpPr/>
          <p:nvPr/>
        </p:nvSpPr>
        <p:spPr>
          <a:xfrm>
            <a:off x="2788920" y="31089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Recognition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788920" y="37033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7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audio sequences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54880" y="2880360"/>
            <a:ext cx="2011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2880360"/>
            <a:ext cx="73152" cy="1417320"/>
          </a:xfrm>
          <a:prstGeom prst="rect">
            <a:avLst/>
          </a:prstGeom>
          <a:solidFill>
            <a:srgbClr val="B8956C"/>
          </a:solidFill>
          <a:ln/>
        </p:spPr>
      </p:sp>
      <p:sp>
        <p:nvSpPr>
          <p:cNvPr id="30" name="Text 28"/>
          <p:cNvSpPr/>
          <p:nvPr/>
        </p:nvSpPr>
        <p:spPr>
          <a:xfrm>
            <a:off x="4937760" y="31089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Translation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937760" y="37033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7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sentence memory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903720" y="2880360"/>
            <a:ext cx="2011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903720" y="2880360"/>
            <a:ext cx="73152" cy="1417320"/>
          </a:xfrm>
          <a:prstGeom prst="rect">
            <a:avLst/>
          </a:prstGeom>
          <a:solidFill>
            <a:srgbClr val="B8956C"/>
          </a:solidFill>
          <a:ln/>
        </p:spPr>
      </p:sp>
      <p:sp>
        <p:nvSpPr>
          <p:cNvPr id="34" name="Text 32"/>
          <p:cNvSpPr/>
          <p:nvPr/>
        </p:nvSpPr>
        <p:spPr>
          <a:xfrm>
            <a:off x="7086600" y="31089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086600" y="37033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7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Distant patterns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7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/  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9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LSTM Was Introduced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640080" cy="640080"/>
          </a:xfrm>
          <a:prstGeom prst="ellipse">
            <a:avLst/>
          </a:prstGeom>
          <a:solidFill>
            <a:srgbClr val="EFE9DD"/>
          </a:solidFill>
          <a:ln w="19050">
            <a:solidFill>
              <a:srgbClr val="B8956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0759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895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11887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Memory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417320" y="15087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4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information across hundreds or thousands of time steps without degradation.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011680"/>
            <a:ext cx="640080" cy="640080"/>
          </a:xfrm>
          <a:prstGeom prst="ellipse">
            <a:avLst/>
          </a:prstGeom>
          <a:solidFill>
            <a:srgbClr val="EFE9DD"/>
          </a:solidFill>
          <a:ln w="19050">
            <a:solidFill>
              <a:srgbClr val="B8956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17627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895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17320" y="20574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Selective Learning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417320" y="23774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4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what to remember and what to forget through gated mechanisms.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2880360"/>
            <a:ext cx="640080" cy="640080"/>
          </a:xfrm>
          <a:prstGeom prst="ellipse">
            <a:avLst/>
          </a:prstGeom>
          <a:solidFill>
            <a:srgbClr val="EFE9DD"/>
          </a:solidFill>
          <a:ln w="19050">
            <a:solidFill>
              <a:srgbClr val="B8956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04495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895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17320" y="29260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Gradients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417320" y="32461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4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constant error flow so earlier layers continue learning effectively.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3749040"/>
            <a:ext cx="640080" cy="640080"/>
          </a:xfrm>
          <a:prstGeom prst="ellipse">
            <a:avLst/>
          </a:prstGeom>
          <a:solidFill>
            <a:srgbClr val="EFE9DD"/>
          </a:solidFill>
          <a:ln w="19050">
            <a:solidFill>
              <a:srgbClr val="B8956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91363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895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17320" y="37947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Sequences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417320" y="41148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4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Dramatically improve performance on real-world sequential tasks.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7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/  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9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CHALLENGE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Vanishing Gradient Problem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114800" cy="3520440"/>
          </a:xfrm>
          <a:prstGeom prst="roundRect">
            <a:avLst>
              <a:gd name="adj" fmla="val 2078"/>
            </a:avLst>
          </a:prstGeom>
          <a:solidFill>
            <a:srgbClr val="EFE9D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887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RNN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1691640"/>
            <a:ext cx="1645920" cy="365760"/>
          </a:xfrm>
          <a:prstGeom prst="rightArrow">
            <a:avLst/>
          </a:prstGeom>
          <a:solidFill>
            <a:srgbClr val="B8956C"/>
          </a:solidFill>
          <a:ln/>
        </p:spPr>
      </p:sp>
      <p:sp>
        <p:nvSpPr>
          <p:cNvPr id="8" name="Text 6"/>
          <p:cNvSpPr/>
          <p:nvPr/>
        </p:nvSpPr>
        <p:spPr>
          <a:xfrm>
            <a:off x="2560320" y="17373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4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∇ large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331720"/>
            <a:ext cx="1188720" cy="365760"/>
          </a:xfrm>
          <a:prstGeom prst="rightArrow">
            <a:avLst/>
          </a:prstGeom>
          <a:solidFill>
            <a:srgbClr val="C4A574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0" y="23774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4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∇ medium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2971800"/>
            <a:ext cx="777240" cy="365760"/>
          </a:xfrm>
          <a:prstGeom prst="rightArrow">
            <a:avLst/>
          </a:prstGeom>
          <a:solidFill>
            <a:srgbClr val="D4C4A8"/>
          </a:solidFill>
          <a:ln/>
        </p:spPr>
      </p:sp>
      <p:sp>
        <p:nvSpPr>
          <p:cNvPr id="12" name="Text 10"/>
          <p:cNvSpPr/>
          <p:nvPr/>
        </p:nvSpPr>
        <p:spPr>
          <a:xfrm>
            <a:off x="2560320" y="3017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4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∇ small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3611880"/>
            <a:ext cx="457200" cy="365760"/>
          </a:xfrm>
          <a:prstGeom prst="rightArrow">
            <a:avLst/>
          </a:prstGeom>
          <a:solidFill>
            <a:srgbClr val="E8DFC8"/>
          </a:solidFill>
          <a:ln/>
        </p:spPr>
      </p:sp>
      <p:sp>
        <p:nvSpPr>
          <p:cNvPr id="14" name="Text 12"/>
          <p:cNvSpPr/>
          <p:nvPr/>
        </p:nvSpPr>
        <p:spPr>
          <a:xfrm>
            <a:off x="2560320" y="3657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4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∇ ≈ 0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63440" y="1051560"/>
            <a:ext cx="411480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051560"/>
            <a:ext cx="4114800" cy="73152"/>
          </a:xfrm>
          <a:prstGeom prst="rect">
            <a:avLst/>
          </a:prstGeom>
          <a:solidFill>
            <a:srgbClr val="B8956C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1280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Solution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029200" y="2103120"/>
            <a:ext cx="3383280" cy="320040"/>
          </a:xfrm>
          <a:prstGeom prst="rect">
            <a:avLst/>
          </a:prstGeom>
          <a:solidFill>
            <a:srgbClr val="B8956C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21488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Error Carousel (CEC)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0" y="2743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4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Memory cell preserves gradient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0" y="32004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4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Gates control write / read / forget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200" y="3657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4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Stable learning over 1000+ steps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7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/  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9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LSTM Cell – Visual Structure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3657600"/>
          </a:xfrm>
          <a:prstGeom prst="roundRect">
            <a:avLst>
              <a:gd name="adj" fmla="val 3000"/>
            </a:avLst>
          </a:prstGeom>
          <a:solidFill>
            <a:srgbClr val="EFE9DD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143000"/>
            <a:ext cx="7863840" cy="411480"/>
          </a:xfrm>
          <a:prstGeom prst="roundRect">
            <a:avLst>
              <a:gd name="adj" fmla="val 17778"/>
            </a:avLst>
          </a:prstGeom>
          <a:solidFill>
            <a:srgbClr val="B8956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0700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State  Ct   (Long-term Memory Highway)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1828800"/>
            <a:ext cx="18288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25400">
            <a:solidFill>
              <a:srgbClr val="C628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9659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514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0" y="1828800"/>
            <a:ext cx="18288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254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19659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57600" y="2514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0" y="1828800"/>
            <a:ext cx="18288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2540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19659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0" y="2514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926080" y="3108960"/>
            <a:ext cx="3291840" cy="502920"/>
          </a:xfrm>
          <a:prstGeom prst="roundRect">
            <a:avLst>
              <a:gd name="adj" fmla="val 14545"/>
            </a:avLst>
          </a:prstGeom>
          <a:solidFill>
            <a:srgbClr val="2C2416"/>
          </a:solidFill>
          <a:ln/>
        </p:spPr>
      </p:sp>
      <p:sp>
        <p:nvSpPr>
          <p:cNvPr id="18" name="Text 16"/>
          <p:cNvSpPr/>
          <p:nvPr/>
        </p:nvSpPr>
        <p:spPr>
          <a:xfrm>
            <a:off x="2926080" y="32004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State  ht  (Output)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3840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4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xt  (current input)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00400" y="3840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4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ht-1  (previous hidden)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0" y="38404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4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Ct-1  →  Ct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420624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7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= Forget   |   Blue = Input   |   Green = Output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7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/  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9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 MECHANISM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Three Gates Work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2788920" cy="365760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14400"/>
            <a:ext cx="2788920" cy="9144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1430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 Gate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15544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ft = σ(Wf[ht-1, xt] + bf)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103120"/>
            <a:ext cx="320040" cy="320040"/>
          </a:xfrm>
          <a:prstGeom prst="ellipse">
            <a:avLst/>
          </a:prstGeom>
          <a:solidFill>
            <a:srgbClr val="EFE9DD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14884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2148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4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ht-1 and xt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6040"/>
            <a:ext cx="320040" cy="320040"/>
          </a:xfrm>
          <a:prstGeom prst="ellipse">
            <a:avLst/>
          </a:prstGeom>
          <a:solidFill>
            <a:srgbClr val="EFE9DD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65176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2651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4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0 → 1 values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108960"/>
            <a:ext cx="320040" cy="320040"/>
          </a:xfrm>
          <a:prstGeom prst="ellipse">
            <a:avLst/>
          </a:prstGeom>
          <a:solidFill>
            <a:srgbClr val="EFE9DD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15468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3154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4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= erase memory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611880"/>
            <a:ext cx="320040" cy="320040"/>
          </a:xfrm>
          <a:prstGeom prst="ellipse">
            <a:avLst/>
          </a:prstGeom>
          <a:solidFill>
            <a:srgbClr val="EFE9DD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65760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3657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4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= keep memory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291840" y="914400"/>
            <a:ext cx="2788920" cy="365760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91840" y="914400"/>
            <a:ext cx="2788920" cy="914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3" name="Text 21"/>
          <p:cNvSpPr/>
          <p:nvPr/>
        </p:nvSpPr>
        <p:spPr>
          <a:xfrm>
            <a:off x="3429000" y="11430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Gate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429000" y="15544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 = σ(Wi[ht-1, xt] + bi)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474720" y="2103120"/>
            <a:ext cx="320040" cy="320040"/>
          </a:xfrm>
          <a:prstGeom prst="ellipse">
            <a:avLst/>
          </a:prstGeom>
          <a:solidFill>
            <a:srgbClr val="EFE9DD"/>
          </a:solidFill>
          <a:ln/>
        </p:spPr>
      </p:sp>
      <p:sp>
        <p:nvSpPr>
          <p:cNvPr id="26" name="Text 24"/>
          <p:cNvSpPr/>
          <p:nvPr/>
        </p:nvSpPr>
        <p:spPr>
          <a:xfrm>
            <a:off x="3474720" y="214884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886200" y="2148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4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candidate values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474720" y="2606040"/>
            <a:ext cx="320040" cy="320040"/>
          </a:xfrm>
          <a:prstGeom prst="ellipse">
            <a:avLst/>
          </a:prstGeom>
          <a:solidFill>
            <a:srgbClr val="EFE9DD"/>
          </a:solidFill>
          <a:ln/>
        </p:spPr>
      </p:sp>
      <p:sp>
        <p:nvSpPr>
          <p:cNvPr id="29" name="Text 27"/>
          <p:cNvSpPr/>
          <p:nvPr/>
        </p:nvSpPr>
        <p:spPr>
          <a:xfrm>
            <a:off x="3474720" y="265176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886200" y="2651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4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what to write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474720" y="3108960"/>
            <a:ext cx="320040" cy="320040"/>
          </a:xfrm>
          <a:prstGeom prst="ellipse">
            <a:avLst/>
          </a:prstGeom>
          <a:solidFill>
            <a:srgbClr val="EFE9DD"/>
          </a:solidFill>
          <a:ln/>
        </p:spPr>
      </p:sp>
      <p:sp>
        <p:nvSpPr>
          <p:cNvPr id="32" name="Text 30"/>
          <p:cNvSpPr/>
          <p:nvPr/>
        </p:nvSpPr>
        <p:spPr>
          <a:xfrm>
            <a:off x="3474720" y="315468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886200" y="3154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4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cell state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3474720" y="3611880"/>
            <a:ext cx="320040" cy="320040"/>
          </a:xfrm>
          <a:prstGeom prst="ellipse">
            <a:avLst/>
          </a:prstGeom>
          <a:solidFill>
            <a:srgbClr val="EFE9DD"/>
          </a:solidFill>
          <a:ln/>
        </p:spPr>
      </p:sp>
      <p:sp>
        <p:nvSpPr>
          <p:cNvPr id="35" name="Text 33"/>
          <p:cNvSpPr/>
          <p:nvPr/>
        </p:nvSpPr>
        <p:spPr>
          <a:xfrm>
            <a:off x="3474720" y="365760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886200" y="3657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4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new information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217920" y="914400"/>
            <a:ext cx="2788920" cy="365760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217920" y="914400"/>
            <a:ext cx="2788920" cy="914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9" name="Text 37"/>
          <p:cNvSpPr/>
          <p:nvPr/>
        </p:nvSpPr>
        <p:spPr>
          <a:xfrm>
            <a:off x="6355080" y="11430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Gate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355080" y="15544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ot = σ(Wo[ht-1, xt] + bo)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00800" y="2103120"/>
            <a:ext cx="320040" cy="320040"/>
          </a:xfrm>
          <a:prstGeom prst="ellipse">
            <a:avLst/>
          </a:prstGeom>
          <a:solidFill>
            <a:srgbClr val="EFE9DD"/>
          </a:solidFill>
          <a:ln/>
        </p:spPr>
      </p:sp>
      <p:sp>
        <p:nvSpPr>
          <p:cNvPr id="42" name="Text 40"/>
          <p:cNvSpPr/>
          <p:nvPr/>
        </p:nvSpPr>
        <p:spPr>
          <a:xfrm>
            <a:off x="6400800" y="214884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812280" y="2148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4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from cell state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400800" y="2606040"/>
            <a:ext cx="320040" cy="320040"/>
          </a:xfrm>
          <a:prstGeom prst="ellipse">
            <a:avLst/>
          </a:prstGeom>
          <a:solidFill>
            <a:srgbClr val="EFE9DD"/>
          </a:solidFill>
          <a:ln/>
        </p:spPr>
      </p:sp>
      <p:sp>
        <p:nvSpPr>
          <p:cNvPr id="45" name="Text 43"/>
          <p:cNvSpPr/>
          <p:nvPr/>
        </p:nvSpPr>
        <p:spPr>
          <a:xfrm>
            <a:off x="6400800" y="265176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812280" y="2651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4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tanh filter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6400800" y="3108960"/>
            <a:ext cx="320040" cy="320040"/>
          </a:xfrm>
          <a:prstGeom prst="ellipse">
            <a:avLst/>
          </a:prstGeom>
          <a:solidFill>
            <a:srgbClr val="EFE9DD"/>
          </a:solidFill>
          <a:ln/>
        </p:spPr>
      </p:sp>
      <p:sp>
        <p:nvSpPr>
          <p:cNvPr id="48" name="Text 46"/>
          <p:cNvSpPr/>
          <p:nvPr/>
        </p:nvSpPr>
        <p:spPr>
          <a:xfrm>
            <a:off x="6400800" y="315468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812280" y="3154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4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new ht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6400800" y="3611880"/>
            <a:ext cx="320040" cy="320040"/>
          </a:xfrm>
          <a:prstGeom prst="ellipse">
            <a:avLst/>
          </a:prstGeom>
          <a:solidFill>
            <a:srgbClr val="EFE9DD"/>
          </a:solidFill>
          <a:ln/>
        </p:spPr>
      </p:sp>
      <p:sp>
        <p:nvSpPr>
          <p:cNvPr id="51" name="Text 49"/>
          <p:cNvSpPr/>
          <p:nvPr/>
        </p:nvSpPr>
        <p:spPr>
          <a:xfrm>
            <a:off x="6400800" y="365760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812280" y="3657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4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to next step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7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/  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9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Findings from the 1997 Paper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EFE9DD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801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B895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1000+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3383280" y="141732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C4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time-step delays successfully learned — far beyond what traditional RNNs could handle at the time.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27432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2971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Outperformed RNNs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34747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4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Surpassed Elman networks and standard BPTT on long-sequence benchmarks.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37560" y="2743200"/>
            <a:ext cx="27432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20440" y="2971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Convergence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20440" y="34747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4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Reached solutions in fewer training iterations on complex sequence tasks.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2743200"/>
            <a:ext cx="27432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0" y="2971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 Hard Problems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0" y="34747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4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Handled tasks that previous recurrent architectures could not learn.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7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/  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9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Advantages &amp; Limitations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11480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51560"/>
            <a:ext cx="4114800" cy="914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325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4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Solves vanishing gradient problem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331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4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Learns very long-term dependencies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788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4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High accuracy on sequential tasks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2461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4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Widely adopted and battle-tested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703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4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Excellent for time-series &amp; speech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1051560"/>
            <a:ext cx="411480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051560"/>
            <a:ext cx="4114800" cy="9144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5" name="Text 13"/>
          <p:cNvSpPr/>
          <p:nvPr/>
        </p:nvSpPr>
        <p:spPr>
          <a:xfrm>
            <a:off x="4892040" y="1325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37760" y="18745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4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Computationally more expensive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37760" y="2331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4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Larger number of parameters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37760" y="2788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4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Longer training time than RNNs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37760" y="32461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4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Needs more data to train well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37760" y="3703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4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Partially superseded by Transformers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7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 /  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9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Modern Applications of LSTM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20574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88720" y="1234440"/>
            <a:ext cx="365760" cy="365760"/>
          </a:xfrm>
          <a:prstGeom prst="ellipse">
            <a:avLst/>
          </a:prstGeom>
          <a:solidFill>
            <a:srgbClr val="EFE9DD"/>
          </a:solidFill>
          <a:ln w="19050">
            <a:solidFill>
              <a:srgbClr val="B8956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7373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&amp; Chatbots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7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modeling &amp; dialogue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0" y="1051560"/>
            <a:ext cx="20574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1234440"/>
            <a:ext cx="365760" cy="365760"/>
          </a:xfrm>
          <a:prstGeom prst="ellipse">
            <a:avLst/>
          </a:prstGeom>
          <a:solidFill>
            <a:srgbClr val="EFE9DD"/>
          </a:solidFill>
          <a:ln w="19050">
            <a:solidFill>
              <a:srgbClr val="B8956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17373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Translation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51760" y="21031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7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Seq2Seq translation systems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051560"/>
            <a:ext cx="20574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577840" y="1234440"/>
            <a:ext cx="365760" cy="365760"/>
          </a:xfrm>
          <a:prstGeom prst="ellipse">
            <a:avLst/>
          </a:prstGeom>
          <a:solidFill>
            <a:srgbClr val="EFE9DD"/>
          </a:solidFill>
          <a:ln w="19050">
            <a:solidFill>
              <a:srgbClr val="B8956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7373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Recognition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21031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7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Acoustic modeling &amp; ASR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49440" y="1051560"/>
            <a:ext cx="20574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772400" y="1234440"/>
            <a:ext cx="365760" cy="365760"/>
          </a:xfrm>
          <a:prstGeom prst="ellipse">
            <a:avLst/>
          </a:prstGeom>
          <a:solidFill>
            <a:srgbClr val="EFE9DD"/>
          </a:solidFill>
          <a:ln w="19050">
            <a:solidFill>
              <a:srgbClr val="B8956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0" y="17373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040880" y="21031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7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document classification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2788920"/>
            <a:ext cx="20574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188720" y="2971800"/>
            <a:ext cx="365760" cy="365760"/>
          </a:xfrm>
          <a:prstGeom prst="ellipse">
            <a:avLst/>
          </a:prstGeom>
          <a:solidFill>
            <a:srgbClr val="EFE9DD"/>
          </a:solidFill>
          <a:ln w="19050">
            <a:solidFill>
              <a:srgbClr val="B8956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4747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384048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7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Stock, weather, demand forecast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560320" y="2788920"/>
            <a:ext cx="20574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83280" y="2971800"/>
            <a:ext cx="365760" cy="365760"/>
          </a:xfrm>
          <a:prstGeom prst="ellipse">
            <a:avLst/>
          </a:prstGeom>
          <a:solidFill>
            <a:srgbClr val="EFE9DD"/>
          </a:solidFill>
          <a:ln w="19050">
            <a:solidFill>
              <a:srgbClr val="B8956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51760" y="34747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651760" y="384048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7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monitoring &amp; signals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2788920"/>
            <a:ext cx="20574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577840" y="2971800"/>
            <a:ext cx="365760" cy="365760"/>
          </a:xfrm>
          <a:prstGeom prst="ellipse">
            <a:avLst/>
          </a:prstGeom>
          <a:solidFill>
            <a:srgbClr val="EFE9DD"/>
          </a:solidFill>
          <a:ln w="19050">
            <a:solidFill>
              <a:srgbClr val="B8956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34747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Analysis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46320" y="384048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7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recognition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949440" y="2788920"/>
            <a:ext cx="20574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772400" y="2971800"/>
            <a:ext cx="365760" cy="365760"/>
          </a:xfrm>
          <a:prstGeom prst="ellipse">
            <a:avLst/>
          </a:prstGeom>
          <a:solidFill>
            <a:srgbClr val="EFE9DD"/>
          </a:solidFill>
          <a:ln w="19050">
            <a:solidFill>
              <a:srgbClr val="B8956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40880" y="34747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040880" y="384048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7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7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/  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9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Personal Insights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3291840"/>
          </a:xfrm>
          <a:prstGeom prst="roundRect">
            <a:avLst>
              <a:gd name="adj" fmla="val 3333"/>
            </a:avLst>
          </a:prstGeom>
          <a:solidFill>
            <a:srgbClr val="EFE9D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41732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C4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remains one of the most important breakthroughs in deep learning. By solving the vanishing gradient problem, it enabled neural networks to truly learn long-term dependencies for the first time.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C4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Although Transformer models now dominate many NLP benchmarks, LSTM continues to be highly relevant — especially in time-series forecasting, speech processing, edge devices, and any setting where sequential inductive bias and lower computational cost matter.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598</Words>
  <Application>Microsoft Office PowerPoint</Application>
  <PresentationFormat>On-screen Show (16:9)</PresentationFormat>
  <Paragraphs>160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Long Short-Term Memory (LSTM) - 1997</dc:title>
  <dc:subject>PptxGenJS Presentation</dc:subject>
  <dc:creator>Deep Learning Assignment</dc:creator>
  <cp:lastModifiedBy>Dell</cp:lastModifiedBy>
  <cp:revision>3</cp:revision>
  <dcterms:created xsi:type="dcterms:W3CDTF">2026-07-28T22:13:20Z</dcterms:created>
  <dcterms:modified xsi:type="dcterms:W3CDTF">2026-07-29T06:12:39Z</dcterms:modified>
</cp:coreProperties>
</file>