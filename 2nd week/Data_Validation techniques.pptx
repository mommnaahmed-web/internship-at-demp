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4.xml" ContentType="application/vnd.openxmlformats-officedocument.drawingml.chart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7" r:id="rId11"/>
    <p:sldId id="268" r:id="rId12"/>
    <p:sldId id="269" r:id="rId13"/>
    <p:sldId id="270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4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7233D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7233D"/>
                </a:solidFill>
                <a:latin typeface="Calibri"/>
              </a:rPr>
              <a:t>Fraud/Default Rate per Fold: Random vs Stratified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Random K-Fold (default rate %)</c:v>
                </c:pt>
              </c:strCache>
            </c:strRef>
          </c:tx>
          <c:spPr>
            <a:solidFill>
              <a:srgbClr val="B3282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7233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Fold 1</c:v>
                </c:pt>
                <c:pt idx="1">
                  <c:v>Fold 2</c:v>
                </c:pt>
                <c:pt idx="2">
                  <c:v>Fold 3</c:v>
                </c:pt>
                <c:pt idx="3">
                  <c:v>Fold 4</c:v>
                </c:pt>
                <c:pt idx="4">
                  <c:v>Fold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18</c:v>
                </c:pt>
                <c:pt idx="2">
                  <c:v>0</c:v>
                </c:pt>
                <c:pt idx="3">
                  <c:v>24</c:v>
                </c:pt>
                <c:pt idx="4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90-4638-8946-A125B8C4D63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Stratified K-Fold (default rate %)</c:v>
                </c:pt>
              </c:strCache>
            </c:strRef>
          </c:tx>
          <c:spPr>
            <a:solidFill>
              <a:srgbClr val="1B998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7233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Fold 1</c:v>
                </c:pt>
                <c:pt idx="1">
                  <c:v>Fold 2</c:v>
                </c:pt>
                <c:pt idx="2">
                  <c:v>Fold 3</c:v>
                </c:pt>
                <c:pt idx="3">
                  <c:v>Fold 4</c:v>
                </c:pt>
                <c:pt idx="4">
                  <c:v>Fold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</c:v>
                </c:pt>
                <c:pt idx="1">
                  <c:v>9</c:v>
                </c:pt>
                <c:pt idx="2">
                  <c:v>11</c:v>
                </c:pt>
                <c:pt idx="3">
                  <c:v>10</c:v>
                </c:pt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890-4638-8946-A125B8C4D63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C6B7A"/>
                    </a:solidFill>
                    <a:latin typeface="Arial"/>
                  </a:defRPr>
                </a:pPr>
                <a:r>
                  <a:rPr lang="en-US" sz="1100" b="0" i="0" u="none" strike="noStrike">
                    <a:solidFill>
                      <a:srgbClr val="5C6B7A"/>
                    </a:solidFill>
                    <a:latin typeface="Arial"/>
                  </a:rPr>
                  <a:t>Default Rate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7233D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7233D"/>
                </a:solidFill>
                <a:latin typeface="Calibri"/>
              </a:rPr>
              <a:t>Accuracy vs. Decision Tree Depth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Accuracy</c:v>
                </c:pt>
              </c:strCache>
            </c:strRef>
          </c:tx>
          <c:spPr>
            <a:ln w="38100" cap="flat">
              <a:solidFill>
                <a:srgbClr val="13407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34074"/>
              </a:solidFill>
              <a:ln w="9525" cap="flat">
                <a:solidFill>
                  <a:srgbClr val="134074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Depth 1</c:v>
                </c:pt>
                <c:pt idx="1">
                  <c:v>Depth 2</c:v>
                </c:pt>
                <c:pt idx="2">
                  <c:v>Depth 3</c:v>
                </c:pt>
                <c:pt idx="3">
                  <c:v>Depth 5</c:v>
                </c:pt>
                <c:pt idx="4">
                  <c:v>Depth 8</c:v>
                </c:pt>
                <c:pt idx="5">
                  <c:v>Depth 12</c:v>
                </c:pt>
                <c:pt idx="6">
                  <c:v>Depth 20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0.62</c:v>
                </c:pt>
                <c:pt idx="1">
                  <c:v>0.71</c:v>
                </c:pt>
                <c:pt idx="2">
                  <c:v>0.8</c:v>
                </c:pt>
                <c:pt idx="3">
                  <c:v>0.9</c:v>
                </c:pt>
                <c:pt idx="4">
                  <c:v>0.97</c:v>
                </c:pt>
                <c:pt idx="5">
                  <c:v>0.99</c:v>
                </c:pt>
                <c:pt idx="6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256-4A17-80F1-4A5B32ADF37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Accuracy</c:v>
                </c:pt>
              </c:strCache>
            </c:strRef>
          </c:tx>
          <c:spPr>
            <a:ln w="38100" cap="flat">
              <a:solidFill>
                <a:srgbClr val="B3282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B3282D"/>
              </a:solidFill>
              <a:ln w="9525" cap="flat">
                <a:solidFill>
                  <a:srgbClr val="B3282D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Depth 1</c:v>
                </c:pt>
                <c:pt idx="1">
                  <c:v>Depth 2</c:v>
                </c:pt>
                <c:pt idx="2">
                  <c:v>Depth 3</c:v>
                </c:pt>
                <c:pt idx="3">
                  <c:v>Depth 5</c:v>
                </c:pt>
                <c:pt idx="4">
                  <c:v>Depth 8</c:v>
                </c:pt>
                <c:pt idx="5">
                  <c:v>Depth 12</c:v>
                </c:pt>
                <c:pt idx="6">
                  <c:v>Depth 20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0.6</c:v>
                </c:pt>
                <c:pt idx="1">
                  <c:v>0.69</c:v>
                </c:pt>
                <c:pt idx="2">
                  <c:v>0.78</c:v>
                </c:pt>
                <c:pt idx="3">
                  <c:v>0.85</c:v>
                </c:pt>
                <c:pt idx="4">
                  <c:v>0.83</c:v>
                </c:pt>
                <c:pt idx="5">
                  <c:v>0.77</c:v>
                </c:pt>
                <c:pt idx="6">
                  <c:v>0.72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256-4A17-80F1-4A5B32ADF3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C6B7A"/>
                    </a:solidFill>
                    <a:latin typeface="Arial"/>
                  </a:defRPr>
                </a:pPr>
                <a:r>
                  <a:rPr lang="en-US" sz="1100" b="0" i="0" u="none" strike="noStrike">
                    <a:solidFill>
                      <a:srgbClr val="5C6B7A"/>
                    </a:solidFill>
                    <a:latin typeface="Arial"/>
                  </a:rPr>
                  <a:t>Accuracy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7233D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7233D"/>
                </a:solidFill>
                <a:latin typeface="Calibri"/>
              </a:rPr>
              <a:t>Accuracy Stays Low on BOTH Train &amp; Test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Accuracy</c:v>
                </c:pt>
              </c:strCache>
            </c:strRef>
          </c:tx>
          <c:spPr>
            <a:ln w="38100" cap="flat">
              <a:solidFill>
                <a:srgbClr val="134074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134074"/>
              </a:solidFill>
              <a:ln w="9525" cap="flat">
                <a:solidFill>
                  <a:srgbClr val="134074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Depth 1</c:v>
                </c:pt>
                <c:pt idx="1">
                  <c:v>Depth 2</c:v>
                </c:pt>
                <c:pt idx="2">
                  <c:v>Depth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0.62</c:v>
                </c:pt>
                <c:pt idx="1">
                  <c:v>0.71</c:v>
                </c:pt>
                <c:pt idx="2">
                  <c:v>0.8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BA-432F-818E-88440C98CD5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Accuracy</c:v>
                </c:pt>
              </c:strCache>
            </c:strRef>
          </c:tx>
          <c:spPr>
            <a:ln w="38100" cap="flat">
              <a:solidFill>
                <a:srgbClr val="C77D22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C77D22"/>
              </a:solidFill>
              <a:ln w="9525" cap="flat">
                <a:solidFill>
                  <a:srgbClr val="C77D22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Depth 1</c:v>
                </c:pt>
                <c:pt idx="1">
                  <c:v>Depth 2</c:v>
                </c:pt>
                <c:pt idx="2">
                  <c:v>Depth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</c:v>
                </c:pt>
                <c:pt idx="1">
                  <c:v>0.69</c:v>
                </c:pt>
                <c:pt idx="2">
                  <c:v>0.78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1BA-432F-818E-88440C98CD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C6B7A"/>
                    </a:solidFill>
                    <a:latin typeface="Arial"/>
                  </a:defRPr>
                </a:pPr>
                <a:r>
                  <a:rPr lang="en-US" sz="1100" b="0" i="0" u="none" strike="noStrike">
                    <a:solidFill>
                      <a:srgbClr val="5C6B7A"/>
                    </a:solidFill>
                    <a:latin typeface="Arial"/>
                  </a:rPr>
                  <a:t>Accuracy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7233D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7233D"/>
                </a:solidFill>
                <a:latin typeface="Calibri"/>
              </a:rPr>
              <a:t>Error vs. Model Complexity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Error</c:v>
                </c:pt>
              </c:strCache>
            </c:strRef>
          </c:tx>
          <c:spPr>
            <a:ln w="38100" cap="flat">
              <a:solidFill>
                <a:srgbClr val="13407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34074"/>
              </a:solidFill>
              <a:ln w="9525" cap="flat">
                <a:solidFill>
                  <a:srgbClr val="134074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Very Low</c:v>
                </c:pt>
                <c:pt idx="1">
                  <c:v>Low</c:v>
                </c:pt>
                <c:pt idx="2">
                  <c:v>Optimal</c:v>
                </c:pt>
                <c:pt idx="3">
                  <c:v>High</c:v>
                </c:pt>
                <c:pt idx="4">
                  <c:v>Very High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0.42</c:v>
                </c:pt>
                <c:pt idx="1">
                  <c:v>0.3</c:v>
                </c:pt>
                <c:pt idx="2">
                  <c:v>0.18</c:v>
                </c:pt>
                <c:pt idx="3">
                  <c:v>0.1</c:v>
                </c:pt>
                <c:pt idx="4">
                  <c:v>0.04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53B-426C-99D1-A8310A9D60E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Error</c:v>
                </c:pt>
              </c:strCache>
            </c:strRef>
          </c:tx>
          <c:spPr>
            <a:ln w="38100" cap="flat">
              <a:solidFill>
                <a:srgbClr val="B3282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B3282D"/>
              </a:solidFill>
              <a:ln w="9525" cap="flat">
                <a:solidFill>
                  <a:srgbClr val="B3282D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Very Low</c:v>
                </c:pt>
                <c:pt idx="1">
                  <c:v>Low</c:v>
                </c:pt>
                <c:pt idx="2">
                  <c:v>Optimal</c:v>
                </c:pt>
                <c:pt idx="3">
                  <c:v>High</c:v>
                </c:pt>
                <c:pt idx="4">
                  <c:v>Very High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0.45</c:v>
                </c:pt>
                <c:pt idx="1">
                  <c:v>0.32</c:v>
                </c:pt>
                <c:pt idx="2">
                  <c:v>0.15</c:v>
                </c:pt>
                <c:pt idx="3">
                  <c:v>0.25</c:v>
                </c:pt>
                <c:pt idx="4">
                  <c:v>0.4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53B-426C-99D1-A8310A9D60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C6B7A"/>
                    </a:solidFill>
                    <a:latin typeface="Arial"/>
                  </a:defRPr>
                </a:pPr>
                <a:r>
                  <a:rPr lang="en-US" sz="1100" b="0" i="0" u="none" strike="noStrike">
                    <a:solidFill>
                      <a:srgbClr val="5C6B7A"/>
                    </a:solidFill>
                    <a:latin typeface="Arial"/>
                  </a:rPr>
                  <a:t>Model Complexity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C6B7A"/>
                    </a:solidFill>
                    <a:latin typeface="Arial"/>
                  </a:defRPr>
                </a:pPr>
                <a:r>
                  <a:rPr lang="en-US" sz="1100" b="0" i="0" u="none" strike="noStrike">
                    <a:solidFill>
                      <a:srgbClr val="5C6B7A"/>
                    </a:solidFill>
                    <a:latin typeface="Arial"/>
                  </a:rPr>
                  <a:t>Error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8611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5120640"/>
            <a:ext cx="2926080" cy="2926080"/>
          </a:xfrm>
          <a:prstGeom prst="ellipse">
            <a:avLst/>
          </a:prstGeom>
          <a:solidFill>
            <a:srgbClr val="134074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5760720"/>
            <a:ext cx="1463040" cy="14630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37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FOUNDATIONS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Validation, Overfitting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Underfitting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22960" y="48920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 •  Stratified K-Fold  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1554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Data Validation Matters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71600" y="1920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Purpose, risk in finance ML systems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4688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Techniques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71600" y="28346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Split, K-Fold, Stratified </a:t>
            </a:r>
            <a:r>
              <a:rPr lang="en-US" sz="1250" dirty="0" smtClean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429000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371600" y="37490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Concept, finance example, and how to reduce it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3434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42976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Underfitting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371600" y="46634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Concept, finance example, and how to reduce it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257800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257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5212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Bias-Variance Tradeoff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371600" y="55778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Tying it all together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Validation, Overfitting &amp; Underfitting in ML  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smtClean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Validation in </a:t>
            </a:r>
            <a:r>
              <a:rPr lang="en-US" sz="3000" b="1" dirty="0" smtClean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65836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82880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of checking whether a trained model generalizes to unseen data — not just data it was trained 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880360"/>
            <a:ext cx="5852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real-world performance before deployment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overfitting and underfitting early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model &amp; hyperparameter selection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where wrong predictions cost money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406640" y="1554480"/>
            <a:ext cx="4206240" cy="4480560"/>
          </a:xfrm>
          <a:prstGeom prst="roundRect">
            <a:avLst>
              <a:gd name="adj" fmla="val 1739"/>
            </a:avLst>
          </a:prstGeom>
          <a:solidFill>
            <a:srgbClr val="0B2545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0" y="1828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IN FINANCE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0" y="228600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overfits historical credit or market data can approve bad loans, miss fraud, or generate false trading signals — turning a validation mistake into direct financial loss.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Validation, Overfitting &amp; Underfitting in ML  |  Finance Domain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Train-Test Split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data validation technique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7754112" cy="1005840"/>
          </a:xfrm>
          <a:prstGeom prst="rect">
            <a:avLst/>
          </a:prstGeom>
          <a:solidFill>
            <a:srgbClr val="13407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77072" y="2103120"/>
            <a:ext cx="1938528" cy="1005840"/>
          </a:xfrm>
          <a:prstGeom prst="rect">
            <a:avLst/>
          </a:prstGeom>
          <a:solidFill>
            <a:srgbClr val="C9A22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03120"/>
            <a:ext cx="77541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 (80%)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77072" y="2103120"/>
            <a:ext cx="19385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(20%)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7754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learns patterns here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77072" y="3200400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unseen data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931920"/>
            <a:ext cx="96926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97280" y="420624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828800" y="4160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Use Case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828800" y="4526280"/>
            <a:ext cx="8321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 splits 5 years of loan applicant records: 80% trains a credit-default model, 20% is held out to check accuracy on new applicants. Limitation: results depend heavily on which rows land in each split.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Validation, Overfitting &amp; Underfitting in ML  |  Finance Domain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K-Fold Cross Validation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fold gets a turn as the test set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 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783080" y="1691640"/>
            <a:ext cx="566928" cy="566928"/>
          </a:xfrm>
          <a:prstGeom prst="rect">
            <a:avLst/>
          </a:prstGeom>
          <a:solidFill>
            <a:srgbClr val="C9A2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23160" y="1691640"/>
            <a:ext cx="566928" cy="566928"/>
          </a:xfrm>
          <a:prstGeom prst="rect">
            <a:avLst/>
          </a:prstGeom>
          <a:solidFill>
            <a:srgbClr val="13407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63240" y="1691640"/>
            <a:ext cx="566928" cy="566928"/>
          </a:xfrm>
          <a:prstGeom prst="rect">
            <a:avLst/>
          </a:prstGeom>
          <a:solidFill>
            <a:srgbClr val="13407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03320" y="1691640"/>
            <a:ext cx="566928" cy="566928"/>
          </a:xfrm>
          <a:prstGeom prst="rect">
            <a:avLst/>
          </a:prstGeom>
          <a:solidFill>
            <a:srgbClr val="13407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0" y="1691640"/>
            <a:ext cx="566928" cy="566928"/>
          </a:xfrm>
          <a:prstGeom prst="rect">
            <a:avLst/>
          </a:prstGeom>
          <a:solidFill>
            <a:srgbClr val="13407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331720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 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783080" y="2331720"/>
            <a:ext cx="566928" cy="566928"/>
          </a:xfrm>
          <a:prstGeom prst="rect">
            <a:avLst/>
          </a:prstGeom>
          <a:solidFill>
            <a:srgbClr val="13407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23160" y="2331720"/>
            <a:ext cx="566928" cy="566928"/>
          </a:xfrm>
          <a:prstGeom prst="rect">
            <a:avLst/>
          </a:prstGeom>
          <a:solidFill>
            <a:srgbClr val="C9A2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63240" y="2331720"/>
            <a:ext cx="566928" cy="566928"/>
          </a:xfrm>
          <a:prstGeom prst="rect">
            <a:avLst/>
          </a:prstGeom>
          <a:solidFill>
            <a:srgbClr val="13407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03320" y="2331720"/>
            <a:ext cx="566928" cy="566928"/>
          </a:xfrm>
          <a:prstGeom prst="rect">
            <a:avLst/>
          </a:prstGeom>
          <a:solidFill>
            <a:srgbClr val="13407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3400" y="2331720"/>
            <a:ext cx="566928" cy="566928"/>
          </a:xfrm>
          <a:prstGeom prst="rect">
            <a:avLst/>
          </a:prstGeom>
          <a:solidFill>
            <a:srgbClr val="13407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2971800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 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783080" y="2971800"/>
            <a:ext cx="566928" cy="566928"/>
          </a:xfrm>
          <a:prstGeom prst="rect">
            <a:avLst/>
          </a:prstGeom>
          <a:solidFill>
            <a:srgbClr val="13407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23160" y="2971800"/>
            <a:ext cx="566928" cy="566928"/>
          </a:xfrm>
          <a:prstGeom prst="rect">
            <a:avLst/>
          </a:prstGeom>
          <a:solidFill>
            <a:srgbClr val="13407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63240" y="2971800"/>
            <a:ext cx="566928" cy="566928"/>
          </a:xfrm>
          <a:prstGeom prst="rect">
            <a:avLst/>
          </a:prstGeom>
          <a:solidFill>
            <a:srgbClr val="C9A2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03320" y="2971800"/>
            <a:ext cx="566928" cy="566928"/>
          </a:xfrm>
          <a:prstGeom prst="rect">
            <a:avLst/>
          </a:prstGeom>
          <a:solidFill>
            <a:srgbClr val="13407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43400" y="2971800"/>
            <a:ext cx="566928" cy="566928"/>
          </a:xfrm>
          <a:prstGeom prst="rect">
            <a:avLst/>
          </a:prstGeom>
          <a:solidFill>
            <a:srgbClr val="13407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611880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 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783080" y="3611880"/>
            <a:ext cx="566928" cy="566928"/>
          </a:xfrm>
          <a:prstGeom prst="rect">
            <a:avLst/>
          </a:prstGeom>
          <a:solidFill>
            <a:srgbClr val="13407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423160" y="3611880"/>
            <a:ext cx="566928" cy="566928"/>
          </a:xfrm>
          <a:prstGeom prst="rect">
            <a:avLst/>
          </a:prstGeom>
          <a:solidFill>
            <a:srgbClr val="13407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63240" y="3611880"/>
            <a:ext cx="566928" cy="566928"/>
          </a:xfrm>
          <a:prstGeom prst="rect">
            <a:avLst/>
          </a:prstGeom>
          <a:solidFill>
            <a:srgbClr val="13407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03320" y="3611880"/>
            <a:ext cx="566928" cy="566928"/>
          </a:xfrm>
          <a:prstGeom prst="rect">
            <a:avLst/>
          </a:prstGeom>
          <a:solidFill>
            <a:srgbClr val="C9A2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43400" y="3611880"/>
            <a:ext cx="566928" cy="566928"/>
          </a:xfrm>
          <a:prstGeom prst="rect">
            <a:avLst/>
          </a:prstGeom>
          <a:solidFill>
            <a:srgbClr val="13407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4251960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 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783080" y="4251960"/>
            <a:ext cx="566928" cy="566928"/>
          </a:xfrm>
          <a:prstGeom prst="rect">
            <a:avLst/>
          </a:prstGeom>
          <a:solidFill>
            <a:srgbClr val="13407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23160" y="4251960"/>
            <a:ext cx="566928" cy="566928"/>
          </a:xfrm>
          <a:prstGeom prst="rect">
            <a:avLst/>
          </a:prstGeom>
          <a:solidFill>
            <a:srgbClr val="13407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063240" y="4251960"/>
            <a:ext cx="566928" cy="566928"/>
          </a:xfrm>
          <a:prstGeom prst="rect">
            <a:avLst/>
          </a:prstGeom>
          <a:solidFill>
            <a:srgbClr val="13407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03320" y="4251960"/>
            <a:ext cx="566928" cy="566928"/>
          </a:xfrm>
          <a:prstGeom prst="rect">
            <a:avLst/>
          </a:prstGeom>
          <a:solidFill>
            <a:srgbClr val="13407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43400" y="4251960"/>
            <a:ext cx="566928" cy="566928"/>
          </a:xfrm>
          <a:prstGeom prst="rect">
            <a:avLst/>
          </a:prstGeom>
          <a:solidFill>
            <a:srgbClr val="C9A2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783080" y="5029200"/>
            <a:ext cx="274320" cy="274320"/>
          </a:xfrm>
          <a:prstGeom prst="rect">
            <a:avLst/>
          </a:prstGeom>
          <a:solidFill>
            <a:srgbClr val="134074"/>
          </a:solidFill>
          <a:ln/>
        </p:spPr>
      </p:sp>
      <p:sp>
        <p:nvSpPr>
          <p:cNvPr id="35" name="Text 33"/>
          <p:cNvSpPr/>
          <p:nvPr/>
        </p:nvSpPr>
        <p:spPr>
          <a:xfrm>
            <a:off x="2103120" y="500176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fold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474720" y="5029200"/>
            <a:ext cx="274320" cy="2743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7" name="Text 35"/>
          <p:cNvSpPr/>
          <p:nvPr/>
        </p:nvSpPr>
        <p:spPr>
          <a:xfrm>
            <a:off x="3794760" y="500176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fold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949440" y="1691640"/>
            <a:ext cx="4663440" cy="4480560"/>
          </a:xfrm>
          <a:prstGeom prst="roundRect">
            <a:avLst>
              <a:gd name="adj" fmla="val 1633"/>
            </a:avLst>
          </a:prstGeom>
          <a:solidFill>
            <a:srgbClr val="0B2545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315200" y="1965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315200" y="233172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split into K equal folds. The model trains on K-1 folds and tests on the remaining one, repeating K times. Final score = average across all runs.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7315200" y="38862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USE CASE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315200" y="4251960"/>
            <a:ext cx="3931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credit scoring company runs 5-Fold CV across customer data and averages AUC scores — a single lucky/unlucky split won't fool them before deployment.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Validation, Overfitting &amp; Underfitting in ML  |  Finance Domain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Stratified K-Fold Cross Validation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class balance in every fold — essential for imbalanced data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691640"/>
          <a:ext cx="667512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691640"/>
            <a:ext cx="4114800" cy="448056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818120" y="19659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USE CASE: FRAUD DETECTION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818120" y="260604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is often &lt;1% of all transactions. A normal K-Fold split can accidentally dump most fraud cases into one fold, leaving others with none.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818120" y="411480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K-Fold guarantees every fold keeps the same fraud-to-normal ratio as the full dataset — giving a fair, reliable evaluation.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Validation, Overfitting &amp; Underfitting in ML  |  Finance Domain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Techniques at a Glance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3724861"/>
              </p:ext>
            </p:extLst>
          </p:nvPr>
        </p:nvGraphicFramePr>
        <p:xfrm>
          <a:off x="548640" y="1600200"/>
          <a:ext cx="11064240" cy="27432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Train-Test Split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baseline check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 loan default model 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K-Fold CV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purpose, balanced data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scoring model validation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Stratified K-Fold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Imbalanced classes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 detection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Validation, Overfitting &amp; Underfitting in ML  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Overfitting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memorizes training data — including noise — and fails on new data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91640"/>
          <a:ext cx="667512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48640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B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between train &amp; test accuracy widens after Depth 5 — the signature of overfitting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7452360" y="1691640"/>
            <a:ext cx="4160520" cy="4480560"/>
          </a:xfrm>
          <a:prstGeom prst="roundRect">
            <a:avLst>
              <a:gd name="adj" fmla="val 1758"/>
            </a:avLst>
          </a:prstGeom>
          <a:solidFill>
            <a:srgbClr val="B3282D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0" y="19659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EXAMPLE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0" y="233172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hedge fund's complex deep learning model hits 99% accuracy predicting stock returns on 5 years of historical data.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Validation, Overfitting &amp; Underfitting in ML  |  Finance Domain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Reduce Overfitting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9496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2007108"/>
            <a:ext cx="512064" cy="512064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0071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63040" y="176479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2167128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 / Stratified K-Fold detects overfitting early, before deployment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600200"/>
            <a:ext cx="539496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46520" y="2007108"/>
            <a:ext cx="512064" cy="512064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20071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32320" y="176479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32320" y="2167128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(Lasso) / L2 (Ridge) penalize overly complex models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154680"/>
            <a:ext cx="539496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3561588"/>
            <a:ext cx="512064" cy="512064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5615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331927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Model Complexity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3721608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features, shallower trees, fewer layers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3154680"/>
            <a:ext cx="539496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46520" y="3561588"/>
            <a:ext cx="512064" cy="512064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35615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132320" y="331927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Training Data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32320" y="3721608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for the model to memorize noise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709160"/>
            <a:ext cx="539496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7240" y="5116068"/>
            <a:ext cx="512064" cy="512064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1160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63040" y="487375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63040" y="5276088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training once validation error starts rising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17920" y="4709160"/>
            <a:ext cx="539496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46520" y="5116068"/>
            <a:ext cx="512064" cy="512064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30" name="Text 28"/>
          <p:cNvSpPr/>
          <p:nvPr/>
        </p:nvSpPr>
        <p:spPr>
          <a:xfrm>
            <a:off x="6446520" y="51160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132320" y="487375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Methods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132320" y="5276088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/ Bagging reduce variance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Validation, Overfitting &amp; Underfitting in ML  |  Finance Domain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Underfitting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is too simple to capture the underlying pattern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91640"/>
          <a:ext cx="667512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48640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C77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lines stay low and close together — the signature of underfitting (high bias)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7452360" y="1691640"/>
            <a:ext cx="4160520" cy="4480560"/>
          </a:xfrm>
          <a:prstGeom prst="roundRect">
            <a:avLst>
              <a:gd name="adj" fmla="val 1758"/>
            </a:avLst>
          </a:prstGeom>
          <a:solidFill>
            <a:srgbClr val="C77D22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0" y="19659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EXAMPLE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0" y="233172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 uses simple linear regression with just ONE feature (annual income) to predict loan default risk.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72400" y="352044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FF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ignores credit history, existing debt, and employment type — performing badly even on its own training data.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Validation, Overfitting &amp; Underfitting in ML  |  Finance Domain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Reduce Underfitting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39496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2212848"/>
            <a:ext cx="512064" cy="512064"/>
          </a:xfrm>
          <a:prstGeom prst="ellipse">
            <a:avLst/>
          </a:prstGeom>
          <a:solidFill>
            <a:srgbClr val="C77D2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221284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08760" y="193852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Model Complexity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508760" y="242316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trees, more layers/neurons, higher-degree features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539496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73952" y="2212848"/>
            <a:ext cx="512064" cy="512064"/>
          </a:xfrm>
          <a:prstGeom prst="ellipse">
            <a:avLst/>
          </a:prstGeom>
          <a:solidFill>
            <a:srgbClr val="C77D22"/>
          </a:solidFill>
          <a:ln/>
        </p:spPr>
      </p:sp>
      <p:sp>
        <p:nvSpPr>
          <p:cNvPr id="10" name="Text 8"/>
          <p:cNvSpPr/>
          <p:nvPr/>
        </p:nvSpPr>
        <p:spPr>
          <a:xfrm>
            <a:off x="6473952" y="221284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78040" y="193852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178040" y="242316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relevant features e.g. debt-to-income ratio, credit history length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539496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" y="3950208"/>
            <a:ext cx="512064" cy="512064"/>
          </a:xfrm>
          <a:prstGeom prst="ellipse">
            <a:avLst/>
          </a:prstGeom>
          <a:solidFill>
            <a:srgbClr val="C77D22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39502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08760" y="367588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Regularization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508760" y="416052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strong a penalty oversimplifies the model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17920" y="3474720"/>
            <a:ext cx="539496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73952" y="3950208"/>
            <a:ext cx="512064" cy="512064"/>
          </a:xfrm>
          <a:prstGeom prst="ellipse">
            <a:avLst/>
          </a:prstGeom>
          <a:solidFill>
            <a:srgbClr val="C77D22"/>
          </a:solidFill>
          <a:ln/>
        </p:spPr>
      </p:sp>
      <p:sp>
        <p:nvSpPr>
          <p:cNvPr id="20" name="Text 18"/>
          <p:cNvSpPr/>
          <p:nvPr/>
        </p:nvSpPr>
        <p:spPr>
          <a:xfrm>
            <a:off x="6473952" y="39502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178040" y="367588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Longer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7178040" y="416052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more iterations/epochs to learn patterns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Validation, Overfitting &amp; Underfitting in ML  |  Finance Domain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Bias-Variance Tradeoff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of validation techniques: find the sweet spot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45920"/>
          <a:ext cx="74980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645920"/>
            <a:ext cx="3383280" cy="1234440"/>
          </a:xfrm>
          <a:prstGeom prst="roundRect">
            <a:avLst>
              <a:gd name="adj" fmla="val 5185"/>
            </a:avLst>
          </a:prstGeom>
          <a:solidFill>
            <a:srgbClr val="C77D22"/>
          </a:solidFill>
          <a:ln/>
        </p:spPr>
      </p:sp>
      <p:sp>
        <p:nvSpPr>
          <p:cNvPr id="6" name="Text 3"/>
          <p:cNvSpPr/>
          <p:nvPr/>
        </p:nvSpPr>
        <p:spPr>
          <a:xfrm>
            <a:off x="8366760" y="178308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UNDERFITTING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Bias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229600" y="3017520"/>
            <a:ext cx="3383280" cy="1234440"/>
          </a:xfrm>
          <a:prstGeom prst="roundRect">
            <a:avLst>
              <a:gd name="adj" fmla="val 5185"/>
            </a:avLst>
          </a:prstGeom>
          <a:solidFill>
            <a:srgbClr val="1B998B"/>
          </a:solidFill>
          <a:ln/>
        </p:spPr>
      </p:sp>
      <p:sp>
        <p:nvSpPr>
          <p:cNvPr id="8" name="Text 5"/>
          <p:cNvSpPr/>
          <p:nvPr/>
        </p:nvSpPr>
        <p:spPr>
          <a:xfrm>
            <a:off x="8366760" y="315468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 SPOT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Generalization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29600" y="4389120"/>
            <a:ext cx="3383280" cy="1234440"/>
          </a:xfrm>
          <a:prstGeom prst="roundRect">
            <a:avLst>
              <a:gd name="adj" fmla="val 5185"/>
            </a:avLst>
          </a:prstGeom>
          <a:solidFill>
            <a:srgbClr val="B3282D"/>
          </a:solidFill>
          <a:ln/>
        </p:spPr>
      </p:sp>
      <p:sp>
        <p:nvSpPr>
          <p:cNvPr id="10" name="Text 7"/>
          <p:cNvSpPr/>
          <p:nvPr/>
        </p:nvSpPr>
        <p:spPr>
          <a:xfrm>
            <a:off x="8366760" y="452628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Variance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Validation, Overfitting &amp; Underfitting in ML  |  Finance Domain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685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201168" cy="201168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6459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Overfitting:  </a:t>
            </a:r>
            <a:r>
              <a:rPr lang="en-US" sz="15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Regularization, cross-validation, pruning, more data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377440"/>
            <a:ext cx="201168" cy="201168"/>
          </a:xfrm>
          <a:prstGeom prst="ellipse">
            <a:avLst/>
          </a:prstGeom>
          <a:solidFill>
            <a:srgbClr val="C77D22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23317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Underfitting:  </a:t>
            </a:r>
            <a:r>
              <a:rPr lang="en-US" sz="15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features, more complex model, less regularization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3063240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30175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Imbalanced data:  </a:t>
            </a:r>
            <a:r>
              <a:rPr lang="en-US" sz="15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Stratified K-Fold (fraud, default, churn)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5120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901</Words>
  <Application>Microsoft Office PowerPoint</Application>
  <PresentationFormat>Widescreen</PresentationFormat>
  <Paragraphs>169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Dell</cp:lastModifiedBy>
  <cp:revision>3</cp:revision>
  <dcterms:created xsi:type="dcterms:W3CDTF">2026-07-14T20:54:54Z</dcterms:created>
  <dcterms:modified xsi:type="dcterms:W3CDTF">2026-07-15T03:41:35Z</dcterms:modified>
</cp:coreProperties>
</file>