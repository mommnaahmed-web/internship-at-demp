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6C7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Single decision tree</c:v>
                  </c:pt>
                  <c:pt idx="1">
                    <c:v>Bagging (100 trees)</c:v>
                  </c:pt>
                  <c:pt idx="2">
                    <c:v>Random forest (100 trees)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0.612</c:v>
                </c:pt>
                <c:pt idx="1">
                  <c:v>0.656</c:v>
                </c:pt>
                <c:pt idx="2">
                  <c:v>0.662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7258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Single decision tree</c:v>
                  </c:pt>
                  <c:pt idx="1">
                    <c:v>Bagging (100 trees)</c:v>
                  </c:pt>
                  <c:pt idx="2">
                    <c:v>Random forest (100 trees)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0.615</c:v>
                </c:pt>
                <c:pt idx="1">
                  <c:v>0.65</c:v>
                </c:pt>
                <c:pt idx="2">
                  <c:v>0.66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EAE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2424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EAE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AEAEC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B1B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5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96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TECHNIQUE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for Robust, Low-Variance Predictions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gaming-industry case study: predicting player churn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5715000"/>
            <a:ext cx="502920" cy="502920"/>
          </a:xfrm>
          <a:prstGeom prst="ellipse">
            <a:avLst/>
          </a:prstGeom>
          <a:solidFill>
            <a:srgbClr val="1B1B33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1" name="Image 1" descr="/home/claude/icons/d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58457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0472" y="5715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60520" y="5715000"/>
            <a:ext cx="502920" cy="502920"/>
          </a:xfrm>
          <a:prstGeom prst="ellipse">
            <a:avLst/>
          </a:prstGeom>
          <a:solidFill>
            <a:srgbClr val="1B1B33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4" name="Image 2" descr="/home/claude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279" y="58457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82312" y="5715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models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52360" y="5715000"/>
            <a:ext cx="502920" cy="502920"/>
          </a:xfrm>
          <a:prstGeom prst="ellipse">
            <a:avLst/>
          </a:prstGeom>
          <a:solidFill>
            <a:srgbClr val="1B1B33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7" name="Image 3" descr="/home/claude/icons/v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119" y="584575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74152" y="5715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5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01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fundamentals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130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combining models beats using just one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88136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2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2724912"/>
            <a:ext cx="566928" cy="566928"/>
          </a:xfrm>
          <a:prstGeom prst="ellipse">
            <a:avLst/>
          </a:prstGeom>
          <a:solidFill>
            <a:srgbClr val="242446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0" name="Image 1" descr="/home/claude/icons/d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87231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697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bagging works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00200" y="3026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sampling, parallel training, aggregation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881360" y="272491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2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822960" y="3621024"/>
            <a:ext cx="566928" cy="566928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5" name="Image 2" descr="/home/claude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376842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935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vs. ensemble learning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00200" y="39227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questions, often used together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881360" y="362102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2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822960" y="4517136"/>
            <a:ext cx="566928" cy="566928"/>
          </a:xfrm>
          <a:prstGeom prst="ellipse">
            <a:avLst/>
          </a:prstGeom>
          <a:solidFill>
            <a:srgbClr val="242446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0" name="Image 3" descr="/home/claude/icons/game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66453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48970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case study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00200" y="48188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player churn from gameplay telemetry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881360" y="45171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2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22960" y="5413248"/>
            <a:ext cx="566928" cy="566928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25" name="Image 4" descr="/home/claude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5560649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38581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600200" y="5715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single tree, bagging, and random forest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881360" y="5413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2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ensemble learning?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combines predictions from multiple models to produce a result that is more accurate and stable than any single model alone. Individual models make different kinds of mistakes — combine them well, and the mistakes cancel out while the correct signal reinforces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197096"/>
            <a:ext cx="100584" cy="10058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and/or bias versus a single 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4700016"/>
            <a:ext cx="100584" cy="10058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 can be the same algorithm or different algorithms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5202936"/>
            <a:ext cx="100584" cy="100584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Random Forest, Gradient Boosting, and stacked models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5029200" cy="4434840"/>
          </a:xfrm>
          <a:prstGeom prst="roundRect">
            <a:avLst>
              <a:gd name="adj" fmla="val 2474"/>
            </a:avLst>
          </a:prstGeom>
          <a:solidFill>
            <a:srgbClr val="1B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057400"/>
            <a:ext cx="822960" cy="82296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3" name="Image 0" descr="/home/claude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850" y="2271370"/>
            <a:ext cx="395021" cy="39502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95360" y="2057400"/>
            <a:ext cx="822960" cy="82296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6" name="Image 1" descr="/home/claude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330" y="227137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149840" y="2057400"/>
            <a:ext cx="822960" cy="82296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F72585"/>
            </a:solidFill>
            <a:prstDash val="solid"/>
          </a:ln>
        </p:spPr>
      </p:sp>
      <p:pic>
        <p:nvPicPr>
          <p:cNvPr id="19" name="Image 2" descr="/home/claude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810" y="22713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6696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52360" y="3291840"/>
            <a:ext cx="1554480" cy="731520"/>
          </a:xfrm>
          <a:prstGeom prst="line">
            <a:avLst/>
          </a:prstGeom>
          <a:noFill/>
          <a:ln w="15875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06840" y="3291840"/>
            <a:ext cx="0" cy="731520"/>
          </a:xfrm>
          <a:prstGeom prst="line">
            <a:avLst/>
          </a:prstGeom>
          <a:noFill/>
          <a:ln w="15875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10561320" y="3291840"/>
            <a:ext cx="-1554480" cy="731520"/>
          </a:xfrm>
          <a:prstGeom prst="line">
            <a:avLst/>
          </a:prstGeom>
          <a:noFill/>
          <a:ln w="15875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503920" y="4206240"/>
            <a:ext cx="1005840" cy="100584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25" name="Image 3" descr="/home/claude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438" y="4467758"/>
            <a:ext cx="482803" cy="482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prediction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0" y="56418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&amp; stable than any single model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= Bootstrap + Aggregating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1B1B33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868680" cy="86868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6" name="Image 0" descr="/home/claude/icons/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4204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461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many random samples from the training set, with replacement. Each sample is the same size as the original but contains duplicates and omissions.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1B1B33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2194560"/>
            <a:ext cx="868680" cy="86868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F72585"/>
            </a:solidFill>
            <a:prstDash val="solid"/>
          </a:ln>
        </p:spPr>
      </p:sp>
      <p:pic>
        <p:nvPicPr>
          <p:cNvPr id="11" name="Image 1" descr="/home/claude/icons/v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97" y="24204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32461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Aggregating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720840" y="37947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predictions of all models trained on those samples — majority vote for classification, simple average for regression.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turn one high-variance model into many slightly-different models whose combined vote is far steadier.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bagging works,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B33"/>
          </a:solidFill>
          <a:ln w="15875">
            <a:solidFill>
              <a:srgbClr val="16C7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9324" y="2542032"/>
            <a:ext cx="402336" cy="402336"/>
          </a:xfrm>
          <a:prstGeom prst="ellipse">
            <a:avLst/>
          </a:prstGeom>
          <a:solidFill>
            <a:srgbClr val="242446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9324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labeled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3063240"/>
            <a:ext cx="256032" cy="0"/>
          </a:xfrm>
          <a:prstGeom prst="line">
            <a:avLst/>
          </a:prstGeom>
          <a:noFill/>
          <a:ln w="19050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B33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1316" y="2542032"/>
            <a:ext cx="402336" cy="402336"/>
          </a:xfrm>
          <a:prstGeom prst="ellipse">
            <a:avLst/>
          </a:prstGeom>
          <a:solidFill>
            <a:srgbClr val="24244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1316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9232" y="29992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80944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draws, with replacement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55464" y="3063240"/>
            <a:ext cx="256032" cy="0"/>
          </a:xfrm>
          <a:prstGeom prst="line">
            <a:avLst/>
          </a:prstGeom>
          <a:noFill/>
          <a:ln w="19050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1496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B33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3308" y="2542032"/>
            <a:ext cx="402336" cy="402336"/>
          </a:xfrm>
          <a:prstGeom prst="ellipse">
            <a:avLst/>
          </a:prstGeom>
          <a:solidFill>
            <a:srgbClr val="24244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3308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21224" y="29992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02936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sample, trained in parallel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77456" y="3063240"/>
            <a:ext cx="256032" cy="0"/>
          </a:xfrm>
          <a:prstGeom prst="line">
            <a:avLst/>
          </a:prstGeom>
          <a:noFill/>
          <a:ln w="19050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33488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B33"/>
          </a:solidFill>
          <a:ln w="15875">
            <a:solidFill>
              <a:srgbClr val="F725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5300" y="2542032"/>
            <a:ext cx="402336" cy="402336"/>
          </a:xfrm>
          <a:prstGeom prst="ellipse">
            <a:avLst/>
          </a:prstGeom>
          <a:solidFill>
            <a:srgbClr val="242446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530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43216" y="29992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24928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(classification) or average (regression)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99448" y="3063240"/>
            <a:ext cx="256032" cy="0"/>
          </a:xfrm>
          <a:prstGeom prst="line">
            <a:avLst/>
          </a:prstGeom>
          <a:noFill/>
          <a:ln w="19050">
            <a:solidFill>
              <a:srgbClr val="7D7DA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554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B33"/>
          </a:solidFill>
          <a:ln w="15875">
            <a:solidFill>
              <a:srgbClr val="16C7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7292" y="2542032"/>
            <a:ext cx="402336" cy="402336"/>
          </a:xfrm>
          <a:prstGeom prst="ellipse">
            <a:avLst/>
          </a:prstGeom>
          <a:solidFill>
            <a:srgbClr val="242446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729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65208" y="29992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4692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ensemble output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model sees a different random slice of the data, their errors are only weakly correlated — averaging them cancels out noise instead of reinforcing it.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51760" y="521208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1B1B33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0" y="52120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bagging + one more trick: each split only considers a random subset of features, decorrelating the trees even further.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vs. ensemble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competing categories — they answer different questions, and are usually used together.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24244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1B1B33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7" name="Image 0" descr="/home/claude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640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116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54480" y="239572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paradigm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196596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24244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1B1B33"/>
          </a:solidFill>
          <a:ln w="19050">
            <a:solidFill>
              <a:srgbClr val="F72585"/>
            </a:solidFill>
            <a:prstDash val="solid"/>
          </a:ln>
        </p:spPr>
      </p:sp>
      <p:pic>
        <p:nvPicPr>
          <p:cNvPr id="12" name="Image 1" descr="/home/claud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26405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116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69480" y="239572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modeling strategy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10881360" cy="749808"/>
          </a:xfrm>
          <a:prstGeom prst="rect">
            <a:avLst/>
          </a:prstGeom>
          <a:solidFill>
            <a:srgbClr val="1B1B33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297180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286000" y="297180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model learn from labeled data?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55080" y="2971800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combine multiple models to predict better?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3721608"/>
            <a:ext cx="10881360" cy="749808"/>
          </a:xfrm>
          <a:prstGeom prst="rect">
            <a:avLst/>
          </a:prstGeom>
          <a:solidFill>
            <a:srgbClr val="0F0F1E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2160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286000" y="372160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labels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55080" y="3721608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from several base learners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0080" y="4471416"/>
            <a:ext cx="10881360" cy="749808"/>
          </a:xfrm>
          <a:prstGeom prst="rect">
            <a:avLst/>
          </a:prstGeom>
          <a:solidFill>
            <a:srgbClr val="1B1B33"/>
          </a:solidFill>
          <a:ln/>
        </p:spPr>
      </p:sp>
      <p:sp>
        <p:nvSpPr>
          <p:cNvPr id="24" name="Text 20"/>
          <p:cNvSpPr/>
          <p:nvPr/>
        </p:nvSpPr>
        <p:spPr>
          <a:xfrm>
            <a:off x="822960" y="44714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UNIT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2286000" y="447141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55080" y="4471416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— often trained via supervised learning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40080" y="5221224"/>
            <a:ext cx="10881360" cy="749808"/>
          </a:xfrm>
          <a:prstGeom prst="rect">
            <a:avLst/>
          </a:prstGeom>
          <a:solidFill>
            <a:srgbClr val="0F0F1E"/>
          </a:solidFill>
          <a:ln/>
        </p:spPr>
      </p:sp>
      <p:sp>
        <p:nvSpPr>
          <p:cNvPr id="28" name="Text 24"/>
          <p:cNvSpPr/>
          <p:nvPr/>
        </p:nvSpPr>
        <p:spPr>
          <a:xfrm>
            <a:off x="822960" y="5221224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2286000" y="5221224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logistic regression, single tree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355080" y="522122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boosting, stacking, Random Forest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each tree inside a bagging ensemble is trained with ordinary supervised learning — ensembling is the layer that orchestrates many of them.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mainly reduces variance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decision tree trained on noisy data tends to overfit — small changes to the training set produce very different trees. Averaging many such trees smooths this 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1B1B3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788920"/>
            <a:ext cx="777240" cy="77724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F72585"/>
            </a:solidFill>
            <a:prstDash val="solid"/>
          </a:ln>
        </p:spPr>
      </p:sp>
      <p:pic>
        <p:nvPicPr>
          <p:cNvPr id="7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29910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8072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model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965960" y="3172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242446"/>
          </a:solidFill>
          <a:ln/>
        </p:spPr>
      </p:sp>
      <p:sp>
        <p:nvSpPr>
          <p:cNvPr id="10" name="Text 7"/>
          <p:cNvSpPr/>
          <p:nvPr/>
        </p:nvSpPr>
        <p:spPr>
          <a:xfrm>
            <a:off x="1965960" y="3172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easily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379476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— sensitive to which rows happened to be in the training set. Predictions swing with small data changes.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42316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1B1B33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788920"/>
            <a:ext cx="777240" cy="77724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4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202" y="299100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8072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Bagged ensemble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635240" y="3172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242446"/>
          </a:solidFill>
          <a:ln/>
        </p:spPr>
      </p:sp>
      <p:sp>
        <p:nvSpPr>
          <p:cNvPr id="17" name="Text 13"/>
          <p:cNvSpPr/>
          <p:nvPr/>
        </p:nvSpPr>
        <p:spPr>
          <a:xfrm>
            <a:off x="7635240" y="3172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Steadier predictions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675120" y="379476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— each tree overfits a slightly different way, and averaging cancels most of that noise out.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Gaming domain: predicting player churn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 player will stop playing within the next 7 days, using behavioral telemetry the game backend already logs.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7249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 week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1821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length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6393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661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0965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in last 30 days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5537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login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010912"/>
            <a:ext cx="91440" cy="91440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377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in game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tree overfits the noise in this kind of behavioral data — exactly where bagging earns its keep.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46304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B1B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828800"/>
            <a:ext cx="914400" cy="91440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F72585"/>
            </a:solidFill>
            <a:prstDash val="solid"/>
          </a:ln>
        </p:spPr>
      </p:sp>
      <p:pic>
        <p:nvPicPr>
          <p:cNvPr id="20" name="Image 0" descr="/home/claude/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4" y="2066544"/>
            <a:ext cx="438912" cy="4389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955280" y="19202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bagging fits gaming data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58000" y="3017520"/>
            <a:ext cx="73152" cy="822960"/>
          </a:xfrm>
          <a:prstGeom prst="roundRect">
            <a:avLst/>
          </a:prstGeom>
          <a:solidFill>
            <a:srgbClr val="16C79A"/>
          </a:solidFill>
          <a:ln/>
        </p:spPr>
      </p:sp>
      <p:sp>
        <p:nvSpPr>
          <p:cNvPr id="23" name="Text 20"/>
          <p:cNvSpPr/>
          <p:nvPr/>
        </p:nvSpPr>
        <p:spPr>
          <a:xfrm>
            <a:off x="7086600" y="301752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behavior is noisy — mood, real-life events, and randomness in matches all leak into the signal.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0" y="3977640"/>
            <a:ext cx="73152" cy="822960"/>
          </a:xfrm>
          <a:prstGeom prst="roundRect">
            <a:avLst/>
          </a:prstGeom>
          <a:solidFill>
            <a:srgbClr val="16C79A"/>
          </a:solidFill>
          <a:ln/>
        </p:spPr>
      </p:sp>
      <p:sp>
        <p:nvSpPr>
          <p:cNvPr id="25" name="Text 22"/>
          <p:cNvSpPr/>
          <p:nvPr/>
        </p:nvSpPr>
        <p:spPr>
          <a:xfrm>
            <a:off x="7086600" y="397764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operate at scale — small accuracy gains translate to large savings on retention campaigns.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58000" y="4937760"/>
            <a:ext cx="73152" cy="822960"/>
          </a:xfrm>
          <a:prstGeom prst="roundRect">
            <a:avLst/>
          </a:prstGeom>
          <a:solidFill>
            <a:srgbClr val="16C79A"/>
          </a:solidFill>
          <a:ln/>
        </p:spPr>
      </p:sp>
      <p:sp>
        <p:nvSpPr>
          <p:cNvPr id="27" name="Text 24"/>
          <p:cNvSpPr/>
          <p:nvPr/>
        </p:nvSpPr>
        <p:spPr>
          <a:xfrm>
            <a:off x="7086600" y="493776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the ensemble tells live-ops teams which levers (rewards, matchmaking) actually move retention.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tree vs. bagging vs. random forest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5448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1B1B33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0" y="1874520"/>
            <a:ext cx="685800" cy="68580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7" name="Image 0" descr="/home/claude/icons/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108" y="20528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0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lifts accuracy ~4.4 pts over a single tree by averaging out overfit noise.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686800" y="41605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edges out plain bagging — the extra per-split feature randomness decorrelates trees further.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686800" y="51206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holds on F1, so the gain isn't just from one class.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Ensemble Learning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B1B33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242446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5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20903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bagging_gaming_churn.ipynb — open in Google Colab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2026-07-13T06:49:59Z</dcterms:created>
  <dcterms:modified xsi:type="dcterms:W3CDTF">2026-07-13T06:49:59Z</dcterms:modified>
</cp:coreProperties>
</file>