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43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40100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206240" cy="42062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206240"/>
            <a:ext cx="2743200" cy="27432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kern="0" spc="300" dirty="0">
                <a:solidFill>
                  <a:srgbClr val="8E9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LEARNING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94360" y="1874520"/>
            <a:ext cx="9601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Dimensionality Reduction &amp; Anomaly Detection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94360" y="324612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E9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  •   Isolation Forest   •   Credit-Card Fraud Use Case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94360" y="1417320"/>
            <a:ext cx="10058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600200" y="1527048"/>
            <a:ext cx="0" cy="722376"/>
          </a:xfrm>
          <a:prstGeom prst="line">
            <a:avLst/>
          </a:prstGeom>
          <a:noFill/>
          <a:ln w="25400">
            <a:solidFill>
              <a:srgbClr val="F4F7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74520" y="1472184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Learning, Briefly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874520" y="187452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these two algorithms fit in the ML landscape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94360" y="2359152"/>
            <a:ext cx="10058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600200" y="2468880"/>
            <a:ext cx="0" cy="722376"/>
          </a:xfrm>
          <a:prstGeom prst="line">
            <a:avLst/>
          </a:prstGeom>
          <a:noFill/>
          <a:ln w="25400">
            <a:solidFill>
              <a:srgbClr val="F4F7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74520" y="2414016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Dimensionality Reduction — PCA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874520" y="281635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Concept, mechanics, and real-world applications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94360" y="3300984"/>
            <a:ext cx="10058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1600200" y="3410712"/>
            <a:ext cx="0" cy="722376"/>
          </a:xfrm>
          <a:prstGeom prst="line">
            <a:avLst/>
          </a:prstGeom>
          <a:noFill/>
          <a:ln w="25400">
            <a:solidFill>
              <a:srgbClr val="F4F7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74520" y="3355848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— Isolation Forest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874520" y="3758184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Concept, mechanics, and real-world applications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94360" y="4242816"/>
            <a:ext cx="10058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1600200" y="4352544"/>
            <a:ext cx="0" cy="722376"/>
          </a:xfrm>
          <a:prstGeom prst="line">
            <a:avLst/>
          </a:prstGeom>
          <a:noFill/>
          <a:ln w="25400">
            <a:solidFill>
              <a:srgbClr val="F4F7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74520" y="4297680"/>
            <a:ext cx="8961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Use Case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874520" y="4700016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Credit-card fraud detection, pipeline and results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94360" y="5184648"/>
            <a:ext cx="10058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1600200" y="5294376"/>
            <a:ext cx="0" cy="722376"/>
          </a:xfrm>
          <a:prstGeom prst="line">
            <a:avLst/>
          </a:prstGeom>
          <a:noFill/>
          <a:ln w="25400">
            <a:solidFill>
              <a:srgbClr val="F4F7FF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These Algorithms Fit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learning finds structure in data with no labeled outcomes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982980" y="1804704"/>
            <a:ext cx="3383280" cy="4206240"/>
          </a:xfrm>
          <a:prstGeom prst="roundRect">
            <a:avLst>
              <a:gd name="adj" fmla="val 2703"/>
            </a:avLst>
          </a:prstGeom>
          <a:solidFill>
            <a:srgbClr val="1E2761"/>
          </a:solidFill>
          <a:ln/>
          <a:effectLst>
            <a:outerShdw blurRad="127000" dist="38100" dir="5400000" algn="bl" rotWithShape="0">
              <a:srgbClr val="1A1F3C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1950909" y="2188159"/>
            <a:ext cx="1005840" cy="100584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11" name="Image 1" descr="/home/claude/deck/icons/compr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1668" y="2318918"/>
            <a:ext cx="744322" cy="7443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78835" y="3424057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Dimensionality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Reduction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1188720" y="3951073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Compresses many features into fewer informative ones — today's PCA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1097280" y="5254093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7178040" y="1686697"/>
            <a:ext cx="3383280" cy="4206240"/>
          </a:xfrm>
          <a:prstGeom prst="roundRect">
            <a:avLst>
              <a:gd name="adj" fmla="val 2703"/>
            </a:avLst>
          </a:prstGeom>
          <a:solidFill>
            <a:srgbClr val="1E2761"/>
          </a:solidFill>
          <a:ln/>
          <a:effectLst>
            <a:outerShdw blurRad="127000" dist="38100" dir="5400000" algn="bl" rotWithShape="0">
              <a:srgbClr val="1A1F3C">
                <a:alpha val="2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9144000" y="2057400"/>
            <a:ext cx="1005840" cy="10058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/home/claude/deck/icons/warn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7519" y="2217482"/>
            <a:ext cx="744322" cy="74432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406640" y="3376089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Anomaly Detection</a:t>
            </a:r>
            <a:endParaRPr lang="en-US" sz="1800" dirty="0"/>
          </a:p>
        </p:txBody>
      </p:sp>
      <p:sp>
        <p:nvSpPr>
          <p:cNvPr id="19" name="Text 14"/>
          <p:cNvSpPr/>
          <p:nvPr/>
        </p:nvSpPr>
        <p:spPr>
          <a:xfrm>
            <a:off x="7406640" y="4107609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records that don't fit the pattern — today's Isolation Forest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7452360" y="5312616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97680" cy="6858000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502920"/>
            <a:ext cx="777240" cy="77724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/home/claude/deck/icons/compr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961" y="603961"/>
            <a:ext cx="575158" cy="5751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417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E9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1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02920" y="169164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Principal Component</a:t>
            </a:r>
            <a:endParaRPr lang="en-US" sz="2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Analysis (PCA)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02920" y="3063240"/>
            <a:ext cx="3520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dimensionality-reduction technique that re-expresses correlated features as a smaller set of uncorrelated “principal components,” ranked by how much variance they explain.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617720" y="45720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Correlated data, projected onto its principal axes</a:t>
            </a:r>
            <a:endParaRPr lang="en-US" sz="1300" dirty="0"/>
          </a:p>
        </p:txBody>
      </p:sp>
      <p:pic>
        <p:nvPicPr>
          <p:cNvPr id="10" name="Image 1" descr="/home/claude/deck/icons/pca_concep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777240"/>
            <a:ext cx="4937760" cy="41148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10012680" y="914400"/>
            <a:ext cx="0" cy="0"/>
          </a:xfrm>
          <a:prstGeom prst="roundRect">
            <a:avLst/>
          </a:prstGeom>
          <a:noFill/>
          <a:ln/>
        </p:spPr>
      </p:sp>
      <p:sp>
        <p:nvSpPr>
          <p:cNvPr id="12" name="Shape 8"/>
          <p:cNvSpPr/>
          <p:nvPr/>
        </p:nvSpPr>
        <p:spPr>
          <a:xfrm>
            <a:off x="10012680" y="1005840"/>
            <a:ext cx="256032" cy="256032"/>
          </a:xfrm>
          <a:prstGeom prst="rect">
            <a:avLst/>
          </a:prstGeom>
          <a:solidFill>
            <a:srgbClr val="E4572E"/>
          </a:solidFill>
          <a:ln/>
        </p:spPr>
      </p:sp>
      <p:sp>
        <p:nvSpPr>
          <p:cNvPr id="13" name="Text 9"/>
          <p:cNvSpPr/>
          <p:nvPr/>
        </p:nvSpPr>
        <p:spPr>
          <a:xfrm>
            <a:off x="10378440" y="93268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10012680" y="129844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 of maximum variance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10012680" y="1965960"/>
            <a:ext cx="256032" cy="25603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2"/>
          <p:cNvSpPr/>
          <p:nvPr/>
        </p:nvSpPr>
        <p:spPr>
          <a:xfrm>
            <a:off x="10378440" y="189280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PC2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0012680" y="225856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Orthogonal, next-highest variance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4846320" y="507492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idea:  </a:t>
            </a:r>
            <a:r>
              <a:rPr lang="en-US" sz="1400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axes that carry the most signal, drop the ones that mostly carry noise.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PCA Works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steps, purely geometric — no target variable involved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42032" cy="3931920"/>
          </a:xfrm>
          <a:prstGeom prst="roundRect">
            <a:avLst>
              <a:gd name="adj" fmla="val 2878"/>
            </a:avLst>
          </a:prstGeom>
          <a:solidFill>
            <a:srgbClr val="F4F7FF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6596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65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49808" y="2743200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49808" y="3227832"/>
            <a:ext cx="213969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 and scale every feature so no single one dominates by magnitude alone.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072384" y="333756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8E9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346704" y="1691640"/>
            <a:ext cx="2542032" cy="3931920"/>
          </a:xfrm>
          <a:prstGeom prst="roundRect">
            <a:avLst>
              <a:gd name="adj" fmla="val 2878"/>
            </a:avLst>
          </a:prstGeom>
          <a:solidFill>
            <a:srgbClr val="F4F7FF"/>
          </a:solidFill>
          <a:ln/>
        </p:spPr>
      </p:sp>
      <p:sp>
        <p:nvSpPr>
          <p:cNvPr id="11" name="Shape 9"/>
          <p:cNvSpPr/>
          <p:nvPr/>
        </p:nvSpPr>
        <p:spPr>
          <a:xfrm>
            <a:off x="3575304" y="196596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3575304" y="1965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47872" y="2743200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Covariance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3547872" y="3227832"/>
            <a:ext cx="213969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the covariance matrix capturing how features move together.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870448" y="333756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8E9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6144768" y="1691640"/>
            <a:ext cx="2542032" cy="3931920"/>
          </a:xfrm>
          <a:prstGeom prst="roundRect">
            <a:avLst>
              <a:gd name="adj" fmla="val 2878"/>
            </a:avLst>
          </a:prstGeom>
          <a:solidFill>
            <a:srgbClr val="F4F7FF"/>
          </a:solidFill>
          <a:ln/>
        </p:spPr>
      </p:sp>
      <p:sp>
        <p:nvSpPr>
          <p:cNvPr id="17" name="Shape 15"/>
          <p:cNvSpPr/>
          <p:nvPr/>
        </p:nvSpPr>
        <p:spPr>
          <a:xfrm>
            <a:off x="6373368" y="196596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373368" y="1965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345936" y="2743200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Eigen-decompose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6345936" y="3227832"/>
            <a:ext cx="213969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eigenvectors (directions) and eigenvalues (variance explained) of that matrix.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668512" y="333756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8E9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8942832" y="1691640"/>
            <a:ext cx="2542032" cy="3931920"/>
          </a:xfrm>
          <a:prstGeom prst="roundRect">
            <a:avLst>
              <a:gd name="adj" fmla="val 2878"/>
            </a:avLst>
          </a:prstGeom>
          <a:solidFill>
            <a:srgbClr val="F4F7FF"/>
          </a:solidFill>
          <a:ln/>
        </p:spPr>
      </p:sp>
      <p:sp>
        <p:nvSpPr>
          <p:cNvPr id="23" name="Shape 21"/>
          <p:cNvSpPr/>
          <p:nvPr/>
        </p:nvSpPr>
        <p:spPr>
          <a:xfrm>
            <a:off x="9171432" y="1965960"/>
            <a:ext cx="594360" cy="59436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4" name="Text 22"/>
          <p:cNvSpPr/>
          <p:nvPr/>
        </p:nvSpPr>
        <p:spPr>
          <a:xfrm>
            <a:off x="9171432" y="1965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144000" y="2743200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9144000" y="3227832"/>
            <a:ext cx="213969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Re-express the data on the top-k eigenvectors — the principal components.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PCA Is Used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domain with many correlated, high-dimensional features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7FF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94767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deck/icons/chart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373" y="2021373"/>
            <a:ext cx="419527" cy="4195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11096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04672" y="2606040"/>
            <a:ext cx="30083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 dozens of correlated risk/transaction features before modeling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25112" y="16916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7FF"/>
          </a:solidFill>
          <a:ln/>
        </p:spPr>
      </p:sp>
      <p:sp>
        <p:nvSpPr>
          <p:cNvPr id="10" name="Shape 7"/>
          <p:cNvSpPr/>
          <p:nvPr/>
        </p:nvSpPr>
        <p:spPr>
          <a:xfrm>
            <a:off x="4581144" y="194767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deck/icons/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845" y="2021373"/>
            <a:ext cx="419527" cy="41952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30952" y="1911096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Compression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81144" y="2606040"/>
            <a:ext cx="30083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pixel dimensionality while preserving visual structure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25112" y="39319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7FF"/>
          </a:solidFill>
          <a:ln/>
        </p:spPr>
      </p:sp>
      <p:sp>
        <p:nvSpPr>
          <p:cNvPr id="25" name="Shape 19"/>
          <p:cNvSpPr/>
          <p:nvPr/>
        </p:nvSpPr>
        <p:spPr>
          <a:xfrm>
            <a:off x="4581144" y="418795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/home/claude/deck/icons/targe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4845" y="4261653"/>
            <a:ext cx="419527" cy="41952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30952" y="4151376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Reduction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581144" y="4846320"/>
            <a:ext cx="30083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low-variance components that mostly encode measurement noise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101584" y="39319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7FF"/>
          </a:solidFill>
          <a:ln/>
        </p:spPr>
      </p:sp>
      <p:sp>
        <p:nvSpPr>
          <p:cNvPr id="30" name="Shape 23"/>
          <p:cNvSpPr/>
          <p:nvPr/>
        </p:nvSpPr>
        <p:spPr>
          <a:xfrm>
            <a:off x="8357616" y="418795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5" descr="/home/claude/deck/icons/lay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1317" y="4261653"/>
            <a:ext cx="419527" cy="41952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107424" y="4151376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357616" y="4846320"/>
            <a:ext cx="30083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high-dimensional data to 2D/3D for exploratory plots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297680" cy="6858000"/>
          </a:xfrm>
          <a:prstGeom prst="round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8366760" y="502920"/>
            <a:ext cx="777240" cy="77724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/home/claude/deck/icons/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801" y="603961"/>
            <a:ext cx="575158" cy="5751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366760" y="1417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E9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2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8366760" y="16916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Isolation Forest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8366760" y="2606040"/>
            <a:ext cx="3520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anomaly-detection method built on random decision trees. Instead of profiling “normal,” it directly measures how easy each point is to isolate.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2920" y="45720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partitioning isolates outliers in far fewer splits</a:t>
            </a:r>
            <a:endParaRPr lang="en-US" sz="1300" dirty="0"/>
          </a:p>
        </p:txBody>
      </p:sp>
      <p:pic>
        <p:nvPicPr>
          <p:cNvPr id="10" name="Image 1" descr="/home/claude/deck/icons/isoforest_concep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777240"/>
            <a:ext cx="484632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Isolation Forest Works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ensemble of random “isolation trees,” scored by average path length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42032" cy="3931920"/>
          </a:xfrm>
          <a:prstGeom prst="roundRect">
            <a:avLst>
              <a:gd name="adj" fmla="val 2878"/>
            </a:avLst>
          </a:prstGeom>
          <a:solidFill>
            <a:srgbClr val="F4F7FF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96596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65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49808" y="2743200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Split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49808" y="3227832"/>
            <a:ext cx="213969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random feature, then a random split value between its min and max.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072384" y="333756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8E9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3346704" y="1691640"/>
            <a:ext cx="2542032" cy="3931920"/>
          </a:xfrm>
          <a:prstGeom prst="roundRect">
            <a:avLst>
              <a:gd name="adj" fmla="val 2878"/>
            </a:avLst>
          </a:prstGeom>
          <a:solidFill>
            <a:srgbClr val="F4F7FF"/>
          </a:solidFill>
          <a:ln/>
        </p:spPr>
      </p:sp>
      <p:sp>
        <p:nvSpPr>
          <p:cNvPr id="11" name="Shape 9"/>
          <p:cNvSpPr/>
          <p:nvPr/>
        </p:nvSpPr>
        <p:spPr>
          <a:xfrm>
            <a:off x="3575304" y="196596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3575304" y="1965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47872" y="2743200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3547872" y="3227832"/>
            <a:ext cx="213969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Recursively repeat, building a tree where each split isolates points further.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870448" y="333756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8E9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6144768" y="1691640"/>
            <a:ext cx="2542032" cy="3931920"/>
          </a:xfrm>
          <a:prstGeom prst="roundRect">
            <a:avLst>
              <a:gd name="adj" fmla="val 2878"/>
            </a:avLst>
          </a:prstGeom>
          <a:solidFill>
            <a:srgbClr val="F4F7FF"/>
          </a:solidFill>
          <a:ln/>
        </p:spPr>
      </p:sp>
      <p:sp>
        <p:nvSpPr>
          <p:cNvPr id="17" name="Shape 15"/>
          <p:cNvSpPr/>
          <p:nvPr/>
        </p:nvSpPr>
        <p:spPr>
          <a:xfrm>
            <a:off x="6373368" y="196596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373368" y="1965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345936" y="2743200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Length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6345936" y="3227832"/>
            <a:ext cx="213969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the splits needed to isolate each point — shorter paths, more unusual.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668512" y="333756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8E9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8942832" y="1691640"/>
            <a:ext cx="2542032" cy="3931920"/>
          </a:xfrm>
          <a:prstGeom prst="roundRect">
            <a:avLst>
              <a:gd name="adj" fmla="val 2878"/>
            </a:avLst>
          </a:prstGeom>
          <a:solidFill>
            <a:srgbClr val="F4F7FF"/>
          </a:solidFill>
          <a:ln/>
        </p:spPr>
      </p:sp>
      <p:sp>
        <p:nvSpPr>
          <p:cNvPr id="23" name="Shape 21"/>
          <p:cNvSpPr/>
          <p:nvPr/>
        </p:nvSpPr>
        <p:spPr>
          <a:xfrm>
            <a:off x="9171432" y="1965960"/>
            <a:ext cx="594360" cy="594360"/>
          </a:xfrm>
          <a:prstGeom prst="ellipse">
            <a:avLst/>
          </a:prstGeom>
          <a:solidFill>
            <a:srgbClr val="E4572E"/>
          </a:solidFill>
          <a:ln/>
        </p:spPr>
      </p:sp>
      <p:sp>
        <p:nvSpPr>
          <p:cNvPr id="24" name="Text 22"/>
          <p:cNvSpPr/>
          <p:nvPr/>
        </p:nvSpPr>
        <p:spPr>
          <a:xfrm>
            <a:off x="9171432" y="1965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144000" y="2743200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Score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9144000" y="3227832"/>
            <a:ext cx="213969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path length across many random trees becomes the anomaly score.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822960" y="5852160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close to 1  </a:t>
            </a: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likely anomaly (short average path).  Score close to 0 = likely normal (long average path, deep in the tree).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Isolation Forest Is Used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Anywhere rare, abnormal events matter more than the average case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7FF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947672"/>
            <a:ext cx="566928" cy="566928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6" name="Image 0" descr="/home/claude/deck/icons/c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373" y="2021373"/>
            <a:ext cx="419527" cy="4195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11096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04672" y="2606040"/>
            <a:ext cx="30083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credit-card, insurance, or wire-transfer transactions that break normal patterns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25112" y="169164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7FF"/>
          </a:solidFill>
          <a:ln/>
        </p:spPr>
      </p:sp>
      <p:sp>
        <p:nvSpPr>
          <p:cNvPr id="10" name="Shape 7"/>
          <p:cNvSpPr/>
          <p:nvPr/>
        </p:nvSpPr>
        <p:spPr>
          <a:xfrm>
            <a:off x="4581144" y="194767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deck/icons/sh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4845" y="2021373"/>
            <a:ext cx="419527" cy="41952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30952" y="1911096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81144" y="2606040"/>
            <a:ext cx="30083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network intrusions and unusual login or access behavior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25112" y="39319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7FF"/>
          </a:solidFill>
          <a:ln/>
        </p:spPr>
      </p:sp>
      <p:sp>
        <p:nvSpPr>
          <p:cNvPr id="25" name="Shape 19"/>
          <p:cNvSpPr/>
          <p:nvPr/>
        </p:nvSpPr>
        <p:spPr>
          <a:xfrm>
            <a:off x="4581144" y="418795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/home/claude/deck/icons/searc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4845" y="4261653"/>
            <a:ext cx="419527" cy="41952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330952" y="4151376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Control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581144" y="4846320"/>
            <a:ext cx="30083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defective units on a production line from sensor data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101584" y="3931920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7FF"/>
          </a:solidFill>
          <a:ln/>
        </p:spPr>
      </p:sp>
      <p:sp>
        <p:nvSpPr>
          <p:cNvPr id="30" name="Shape 23"/>
          <p:cNvSpPr/>
          <p:nvPr/>
        </p:nvSpPr>
        <p:spPr>
          <a:xfrm>
            <a:off x="8357616" y="418795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5" descr="/home/claude/deck/icons/netwo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1317" y="4261653"/>
            <a:ext cx="419527" cy="41952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107424" y="4151376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A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Operations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357616" y="4846320"/>
            <a:ext cx="30083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abnormal system metrics before they become outages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685800" cy="68580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3" name="Image 0" descr="/home/claude/deck/icons/ba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794" y="546354"/>
            <a:ext cx="507492" cy="5074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E9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USE CASE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1732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Credit-Card Fraud Detection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4864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both algorithms into one lightweight, unsupervised pipeline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331720"/>
            <a:ext cx="2514600" cy="329184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 w="12700">
            <a:solidFill>
              <a:srgbClr val="34408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394460" y="2651760"/>
            <a:ext cx="822960" cy="8229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9" name="Image 1" descr="/home/claude/deck/icons/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1445" y="2758745"/>
            <a:ext cx="608990" cy="60899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1520" y="37033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Transactions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777240" y="4206240"/>
            <a:ext cx="2057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Amount, time, merchant category, and behavioral features per transaction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3044952" y="3657600"/>
            <a:ext cx="420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8E9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Shape 9"/>
          <p:cNvSpPr/>
          <p:nvPr/>
        </p:nvSpPr>
        <p:spPr>
          <a:xfrm>
            <a:off x="3447288" y="2331720"/>
            <a:ext cx="2514600" cy="329184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 w="12700">
            <a:solidFill>
              <a:srgbClr val="34408A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293108" y="2651760"/>
            <a:ext cx="822960" cy="8229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5" name="Image 2" descr="/home/claude/deck/icons/compres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0093" y="2758745"/>
            <a:ext cx="608990" cy="60899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630168" y="37033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3675888" y="4206240"/>
            <a:ext cx="2057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 correlated features into a small set of components — faster, less noisy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5943600" y="3657600"/>
            <a:ext cx="420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8E9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9" name="Shape 14"/>
          <p:cNvSpPr/>
          <p:nvPr/>
        </p:nvSpPr>
        <p:spPr>
          <a:xfrm>
            <a:off x="6345936" y="2331720"/>
            <a:ext cx="2514600" cy="329184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 w="12700">
            <a:solidFill>
              <a:srgbClr val="34408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191756" y="2651760"/>
            <a:ext cx="822960" cy="82296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21" name="Image 3" descr="/home/claude/deck/icons/warnin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98741" y="2758745"/>
            <a:ext cx="608990" cy="60899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528816" y="37033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574536" y="4206240"/>
            <a:ext cx="2057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each transaction by how easily it's isolated in the reduced space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8842248" y="3657600"/>
            <a:ext cx="4206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8E9B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25" name="Shape 19"/>
          <p:cNvSpPr/>
          <p:nvPr/>
        </p:nvSpPr>
        <p:spPr>
          <a:xfrm>
            <a:off x="9244584" y="2331720"/>
            <a:ext cx="2514600" cy="329184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 w="12700">
            <a:solidFill>
              <a:srgbClr val="34408A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10090404" y="2651760"/>
            <a:ext cx="822960" cy="82296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27" name="Image 4" descr="/home/claude/deck/icons/shiel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97389" y="2758745"/>
            <a:ext cx="608990" cy="60899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427464" y="3703320"/>
            <a:ext cx="2148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Cases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9473184" y="4206240"/>
            <a:ext cx="2057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High-score transactions routed to fraud analysts for review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 Results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output from the accompanying notebook</a:t>
            </a:r>
            <a:endParaRPr lang="en-US" sz="1350" dirty="0"/>
          </a:p>
        </p:txBody>
      </p:sp>
      <p:pic>
        <p:nvPicPr>
          <p:cNvPr id="4" name="Image 0" descr="/home/claude/deck/icons/fraud_pca_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280160"/>
            <a:ext cx="5349240" cy="4160520"/>
          </a:xfrm>
          <a:prstGeom prst="rect">
            <a:avLst/>
          </a:prstGeom>
        </p:spPr>
      </p:pic>
      <p:pic>
        <p:nvPicPr>
          <p:cNvPr id="5" name="Image 1" descr="/home/claude/deck/icons/anomaly_hi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6440" y="1417320"/>
            <a:ext cx="5760720" cy="39319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48640" y="5623560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F4F7FF"/>
          </a:solidFill>
          <a:ln/>
        </p:spPr>
      </p:sp>
      <p:sp>
        <p:nvSpPr>
          <p:cNvPr id="7" name="Text 3"/>
          <p:cNvSpPr/>
          <p:nvPr/>
        </p:nvSpPr>
        <p:spPr>
          <a:xfrm>
            <a:off x="777240" y="571500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</a:t>
            </a:r>
            <a:endParaRPr lang="en-US" sz="3000" dirty="0"/>
          </a:p>
        </p:txBody>
      </p:sp>
      <p:sp>
        <p:nvSpPr>
          <p:cNvPr id="8" name="Text 4"/>
          <p:cNvSpPr/>
          <p:nvPr/>
        </p:nvSpPr>
        <p:spPr>
          <a:xfrm>
            <a:off x="1920240" y="571500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legitimate transactions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4325112" y="5623560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F4F7FF"/>
          </a:solidFill>
          <a:ln/>
        </p:spPr>
      </p:sp>
      <p:sp>
        <p:nvSpPr>
          <p:cNvPr id="10" name="Text 6"/>
          <p:cNvSpPr/>
          <p:nvPr/>
        </p:nvSpPr>
        <p:spPr>
          <a:xfrm>
            <a:off x="4553712" y="571500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3000" dirty="0"/>
          </a:p>
        </p:txBody>
      </p:sp>
      <p:sp>
        <p:nvSpPr>
          <p:cNvPr id="11" name="Text 7"/>
          <p:cNvSpPr/>
          <p:nvPr/>
        </p:nvSpPr>
        <p:spPr>
          <a:xfrm>
            <a:off x="5696712" y="571500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fraudulent transactions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8101584" y="5623560"/>
            <a:ext cx="3520440" cy="960120"/>
          </a:xfrm>
          <a:prstGeom prst="roundRect">
            <a:avLst>
              <a:gd name="adj" fmla="val 7619"/>
            </a:avLst>
          </a:prstGeom>
          <a:solidFill>
            <a:srgbClr val="F4F7FF"/>
          </a:solidFill>
          <a:ln/>
        </p:spPr>
      </p:sp>
      <p:sp>
        <p:nvSpPr>
          <p:cNvPr id="13" name="Text 9"/>
          <p:cNvSpPr/>
          <p:nvPr/>
        </p:nvSpPr>
        <p:spPr>
          <a:xfrm>
            <a:off x="8330184" y="571500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0.60</a:t>
            </a:r>
            <a:endParaRPr lang="en-US" sz="3000" dirty="0"/>
          </a:p>
        </p:txBody>
      </p:sp>
      <p:sp>
        <p:nvSpPr>
          <p:cNvPr id="14" name="Text 10"/>
          <p:cNvSpPr/>
          <p:nvPr/>
        </p:nvSpPr>
        <p:spPr>
          <a:xfrm>
            <a:off x="9473184" y="571500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Anomaly-score threshold used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94360" y="685800"/>
            <a:ext cx="822960" cy="822960"/>
          </a:xfrm>
          <a:prstGeom prst="ellipse">
            <a:avLst/>
          </a:prstGeom>
          <a:solidFill>
            <a:srgbClr val="E4572E"/>
          </a:solidFill>
          <a:ln/>
        </p:spPr>
      </p:sp>
      <p:pic>
        <p:nvPicPr>
          <p:cNvPr id="4" name="Image 0" descr="/home/claude/deck/icons/sear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345" y="792785"/>
            <a:ext cx="608990" cy="60899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91840" y="23317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594360" y="25146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623</Words>
  <Application>Microsoft Office PowerPoint</Application>
  <PresentationFormat>Widescreen</PresentationFormat>
  <Paragraphs>127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Dell</cp:lastModifiedBy>
  <cp:revision>6</cp:revision>
  <dcterms:created xsi:type="dcterms:W3CDTF">2026-07-15T20:27:06Z</dcterms:created>
  <dcterms:modified xsi:type="dcterms:W3CDTF">2026-07-16T02:31:27Z</dcterms:modified>
</cp:coreProperties>
</file>