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4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B2A4A"/>
                </a:solidFill>
                <a:latin typeface="Calibri"/>
              </a:rPr>
              <a:t>Validation Accuracy (%) vs. Number of Trials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Grid Search</c:v>
                </c:pt>
              </c:strCache>
            </c:strRef>
          </c:tx>
          <c:spPr>
            <a:ln w="31750" cap="flat">
              <a:solidFill>
                <a:srgbClr val="1B2A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50</c:v>
                </c:pt>
                <c:pt idx="4">
                  <c:v>75</c:v>
                </c:pt>
                <c:pt idx="5">
                  <c:v>100</c:v>
                </c:pt>
                <c:pt idx="6">
                  <c:v>125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</c:v>
                </c:pt>
                <c:pt idx="1">
                  <c:v>82</c:v>
                </c:pt>
                <c:pt idx="2">
                  <c:v>85</c:v>
                </c:pt>
                <c:pt idx="3">
                  <c:v>88</c:v>
                </c:pt>
                <c:pt idx="4">
                  <c:v>91</c:v>
                </c:pt>
                <c:pt idx="5">
                  <c:v>93</c:v>
                </c:pt>
                <c:pt idx="6">
                  <c:v>94.2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33-41F4-BC7E-8600E47ECC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Search</c:v>
                </c:pt>
              </c:strCache>
            </c:strRef>
          </c:tx>
          <c:spPr>
            <a:ln w="31750" cap="flat">
              <a:solidFill>
                <a:srgbClr val="B8933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8933E"/>
              </a:solidFill>
              <a:ln w="9525" cap="flat">
                <a:solidFill>
                  <a:srgbClr val="B8933E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50</c:v>
                </c:pt>
                <c:pt idx="4">
                  <c:v>75</c:v>
                </c:pt>
                <c:pt idx="5">
                  <c:v>100</c:v>
                </c:pt>
                <c:pt idx="6">
                  <c:v>125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85</c:v>
                </c:pt>
                <c:pt idx="1">
                  <c:v>90</c:v>
                </c:pt>
                <c:pt idx="2">
                  <c:v>92</c:v>
                </c:pt>
                <c:pt idx="3">
                  <c:v>93.5</c:v>
                </c:pt>
                <c:pt idx="4">
                  <c:v>93.8</c:v>
                </c:pt>
                <c:pt idx="5">
                  <c:v>93.9</c:v>
                </c:pt>
                <c:pt idx="6">
                  <c:v>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33-41F4-BC7E-8600E47ECC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000000"/>
                    </a:solidFill>
                    <a:latin typeface="Arial"/>
                  </a:rPr>
                  <a:t>Number of Trials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870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6"/>
          <c:min val="70"/>
        </c:scaling>
        <c:delete val="0"/>
        <c:axPos val="l"/>
        <c:majorGridlines>
          <c:spPr>
            <a:ln w="12700" cap="flat">
              <a:solidFill>
                <a:srgbClr val="E2E6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000000"/>
                    </a:solidFill>
                    <a:latin typeface="Arial"/>
                  </a:rPr>
                  <a:t>Validation 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870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1470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9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OPTIMIZATION SERIES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7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vs. Random Search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D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comparison of two foundational strategies for optimizing model parameters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Parameter Tuning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9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D2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508760" y="1856232"/>
            <a:ext cx="0" cy="566928"/>
          </a:xfrm>
          <a:prstGeom prst="line">
            <a:avLst/>
          </a:prstGeom>
          <a:noFill/>
          <a:ln w="12700">
            <a:solidFill>
              <a:srgbClr val="E2E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8308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Hyperparameter Tuning Matters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83080" y="2148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search methods solve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10881360" cy="0"/>
          </a:xfrm>
          <a:prstGeom prst="line">
            <a:avLst/>
          </a:prstGeom>
          <a:noFill/>
          <a:ln w="9525">
            <a:solidFill>
              <a:srgbClr val="E2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2432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D2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508760" y="2697480"/>
            <a:ext cx="0" cy="566928"/>
          </a:xfrm>
          <a:prstGeom prst="line">
            <a:avLst/>
          </a:prstGeom>
          <a:noFill/>
          <a:ln w="12700">
            <a:solidFill>
              <a:srgbClr val="E2E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26243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83080" y="299008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Concept, </a:t>
            </a:r>
            <a:r>
              <a:rPr lang="en-US" sz="1200" dirty="0" smtClean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limitations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0881360" cy="0"/>
          </a:xfrm>
          <a:prstGeom prst="line">
            <a:avLst/>
          </a:prstGeom>
          <a:noFill/>
          <a:ln w="9525">
            <a:solidFill>
              <a:srgbClr val="E2E6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65576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D2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508760" y="3538728"/>
            <a:ext cx="0" cy="566928"/>
          </a:xfrm>
          <a:prstGeom prst="line">
            <a:avLst/>
          </a:prstGeom>
          <a:noFill/>
          <a:ln w="12700">
            <a:solidFill>
              <a:srgbClr val="E2E6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346557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83080" y="383133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Concept, </a:t>
            </a:r>
            <a:r>
              <a:rPr lang="en-US" sz="1200" dirty="0" smtClean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limitations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78808"/>
            <a:ext cx="10881360" cy="0"/>
          </a:xfrm>
          <a:prstGeom prst="line">
            <a:avLst/>
          </a:prstGeom>
          <a:noFill/>
          <a:ln w="9525">
            <a:solidFill>
              <a:srgbClr val="E2E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30682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D2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1508760" y="4379976"/>
            <a:ext cx="0" cy="566928"/>
          </a:xfrm>
          <a:prstGeom prst="line">
            <a:avLst/>
          </a:prstGeom>
          <a:noFill/>
          <a:ln w="12700">
            <a:solidFill>
              <a:srgbClr val="E2E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83080" y="430682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in Practice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83080" y="467258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vs. number of trials, visualized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020056"/>
            <a:ext cx="10881360" cy="0"/>
          </a:xfrm>
          <a:prstGeom prst="line">
            <a:avLst/>
          </a:prstGeom>
          <a:noFill/>
          <a:ln w="9525">
            <a:solidFill>
              <a:srgbClr val="E2E6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14807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D2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1508760" y="5221224"/>
            <a:ext cx="0" cy="566928"/>
          </a:xfrm>
          <a:prstGeom prst="line">
            <a:avLst/>
          </a:prstGeom>
          <a:noFill/>
          <a:ln w="12700">
            <a:solidFill>
              <a:srgbClr val="E2E6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83080" y="51480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83080" y="551383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method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&amp; Random Search — two core hyperparameter tuning strategies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6424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9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Hyperparameter Tuning?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r>
              <a:rPr lang="en-US" sz="14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settings chosen before training — e.g. learning rate, tree depth, number of neighbors. They are not learned from data.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r>
              <a:rPr lang="en-US" sz="14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process of searching for the combination of hyperparameters that gives the best model performance.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5943600" cy="1737360"/>
          </a:xfrm>
          <a:prstGeom prst="roundRect">
            <a:avLst>
              <a:gd name="adj" fmla="val 5263"/>
            </a:avLst>
          </a:prstGeom>
          <a:solidFill>
            <a:srgbClr val="F4F6FA"/>
          </a:solidFill>
          <a:ln/>
        </p:spPr>
      </p:sp>
      <p:sp>
        <p:nvSpPr>
          <p:cNvPr id="8" name="Shape 6"/>
          <p:cNvSpPr/>
          <p:nvPr/>
        </p:nvSpPr>
        <p:spPr>
          <a:xfrm>
            <a:off x="6903720" y="1600200"/>
            <a:ext cx="4709160" cy="4206240"/>
          </a:xfrm>
          <a:prstGeom prst="roundRect">
            <a:avLst>
              <a:gd name="adj" fmla="val 2174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2404872"/>
            <a:ext cx="219456" cy="219456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0" y="24048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589520" y="22860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affects accuracy and generalization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23760" y="3209544"/>
            <a:ext cx="219456" cy="219456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320954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89520" y="30906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settings cause under- or over-fitting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23760" y="4014216"/>
            <a:ext cx="219456" cy="219456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40142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589520" y="389534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tuning is slow and inconsistent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common search strategies: Grid Search &amp; Random Search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6424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9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Search — Core Concept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exhaustively tries every possible combination of hyperparameter values from a predefined set — like scanning a grid, point by point.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78992" y="2761488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fixed set of values for each hyperparameter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92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78992" y="3364992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full grid of all combinations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959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995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78992" y="3968496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evaluate the model for every combination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9943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599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78992" y="4572000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combination with best performance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75120" y="1554480"/>
            <a:ext cx="4846320" cy="3794760"/>
          </a:xfrm>
          <a:prstGeom prst="roundRect">
            <a:avLst>
              <a:gd name="adj" fmla="val 2410"/>
            </a:avLst>
          </a:prstGeom>
          <a:solidFill>
            <a:srgbClr val="F4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 — Every Combination Tested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127748" y="227228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8083296" y="227228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9038844" y="227228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9994392" y="227228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49940" y="227228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7127748" y="287807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8083296" y="287807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9038844" y="287807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Shape 25"/>
          <p:cNvSpPr/>
          <p:nvPr/>
        </p:nvSpPr>
        <p:spPr>
          <a:xfrm>
            <a:off x="9994392" y="287807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49940" y="287807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7127748" y="348386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8083296" y="348386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1" name="Shape 29"/>
          <p:cNvSpPr/>
          <p:nvPr/>
        </p:nvSpPr>
        <p:spPr>
          <a:xfrm>
            <a:off x="9038844" y="348386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2" name="Shape 30"/>
          <p:cNvSpPr/>
          <p:nvPr/>
        </p:nvSpPr>
        <p:spPr>
          <a:xfrm>
            <a:off x="9994392" y="348386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3" name="Shape 31"/>
          <p:cNvSpPr/>
          <p:nvPr/>
        </p:nvSpPr>
        <p:spPr>
          <a:xfrm>
            <a:off x="10949940" y="348386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4" name="Shape 32"/>
          <p:cNvSpPr/>
          <p:nvPr/>
        </p:nvSpPr>
        <p:spPr>
          <a:xfrm>
            <a:off x="7127748" y="408965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5" name="Shape 33"/>
          <p:cNvSpPr/>
          <p:nvPr/>
        </p:nvSpPr>
        <p:spPr>
          <a:xfrm>
            <a:off x="8083296" y="408965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6" name="Shape 34"/>
          <p:cNvSpPr/>
          <p:nvPr/>
        </p:nvSpPr>
        <p:spPr>
          <a:xfrm>
            <a:off x="9038844" y="408965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7" name="Shape 35"/>
          <p:cNvSpPr/>
          <p:nvPr/>
        </p:nvSpPr>
        <p:spPr>
          <a:xfrm>
            <a:off x="9994392" y="408965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8" name="Shape 36"/>
          <p:cNvSpPr/>
          <p:nvPr/>
        </p:nvSpPr>
        <p:spPr>
          <a:xfrm>
            <a:off x="10949940" y="408965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9" name="Shape 37"/>
          <p:cNvSpPr/>
          <p:nvPr/>
        </p:nvSpPr>
        <p:spPr>
          <a:xfrm>
            <a:off x="7127748" y="469544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0" name="Shape 38"/>
          <p:cNvSpPr/>
          <p:nvPr/>
        </p:nvSpPr>
        <p:spPr>
          <a:xfrm>
            <a:off x="8083296" y="469544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1" name="Shape 39"/>
          <p:cNvSpPr/>
          <p:nvPr/>
        </p:nvSpPr>
        <p:spPr>
          <a:xfrm>
            <a:off x="9038844" y="469544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2" name="Shape 40"/>
          <p:cNvSpPr/>
          <p:nvPr/>
        </p:nvSpPr>
        <p:spPr>
          <a:xfrm>
            <a:off x="9994392" y="469544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3" name="Shape 41"/>
          <p:cNvSpPr/>
          <p:nvPr/>
        </p:nvSpPr>
        <p:spPr>
          <a:xfrm>
            <a:off x="10949940" y="469544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4" name="Text 42"/>
          <p:cNvSpPr/>
          <p:nvPr/>
        </p:nvSpPr>
        <p:spPr>
          <a:xfrm>
            <a:off x="6903720" y="49834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A →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 rot="16200000">
            <a:off x="6784848" y="2011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B ↑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Search: thorough but exhaustive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06424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9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Search — Strengths &amp;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697480"/>
          </a:xfrm>
          <a:prstGeom prst="roundRect">
            <a:avLst>
              <a:gd name="adj" fmla="val 3390"/>
            </a:avLst>
          </a:prstGeom>
          <a:solidFill>
            <a:srgbClr val="E9F1E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237744" cy="237744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22128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easy to implement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237744" cy="237744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803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8072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to find the best combo within the grid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474720"/>
            <a:ext cx="237744" cy="237744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747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34015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 results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5394960" cy="2697480"/>
          </a:xfrm>
          <a:prstGeom prst="roundRect">
            <a:avLst>
              <a:gd name="adj" fmla="val 3390"/>
            </a:avLst>
          </a:prstGeom>
          <a:solidFill>
            <a:srgbClr val="F6EAE9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1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92240" y="2286000"/>
            <a:ext cx="237744" cy="237744"/>
          </a:xfrm>
          <a:prstGeom prst="ellipse">
            <a:avLst/>
          </a:prstGeom>
          <a:solidFill>
            <a:srgbClr val="A13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2860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221284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expensive (curse of dimensionality)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2880360"/>
            <a:ext cx="237744" cy="237744"/>
          </a:xfrm>
          <a:prstGeom prst="ellipse">
            <a:avLst/>
          </a:prstGeom>
          <a:solidFill>
            <a:srgbClr val="A13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8803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28072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 time on unpromising regions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92240" y="3474720"/>
            <a:ext cx="237744" cy="237744"/>
          </a:xfrm>
          <a:prstGeom prst="ellipse">
            <a:avLst/>
          </a:prstGeom>
          <a:solidFill>
            <a:srgbClr val="A13F3A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4747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340156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Impractical for many hyperparameters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4805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6451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hyperparameters × 5 values each = 125 combinations to train and evaluate — every single one, even the poor performers.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small search spaces with few hyperparameters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6424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9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Search — Core Concept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 samples random combinations of hyperparameter values from defined ranges, testing a fixed number of trials instead of all combinations.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65760" cy="365760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78992" y="2761488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range or distribution for each hyperparameter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365760" cy="365760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92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78992" y="3364992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sample a fixed number of combinations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95928"/>
            <a:ext cx="365760" cy="365760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995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78992" y="3968496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evaluate the model for each sampled point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99432"/>
            <a:ext cx="365760" cy="365760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599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78992" y="4572000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best-performing combination found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75120" y="1554480"/>
            <a:ext cx="4846320" cy="3794760"/>
          </a:xfrm>
          <a:prstGeom prst="roundRect">
            <a:avLst>
              <a:gd name="adj" fmla="val 2410"/>
            </a:avLst>
          </a:prstGeom>
          <a:solidFill>
            <a:srgbClr val="F4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 — Random Sampled Points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89520" y="2780690"/>
            <a:ext cx="137160" cy="137160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20" name="Shape 18"/>
          <p:cNvSpPr/>
          <p:nvPr/>
        </p:nvSpPr>
        <p:spPr>
          <a:xfrm>
            <a:off x="8700516" y="2524658"/>
            <a:ext cx="137160" cy="137160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21" name="Shape 19"/>
          <p:cNvSpPr/>
          <p:nvPr/>
        </p:nvSpPr>
        <p:spPr>
          <a:xfrm>
            <a:off x="9770364" y="2985516"/>
            <a:ext cx="137160" cy="137160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69880" y="3548786"/>
            <a:ext cx="137160" cy="137160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23" name="Shape 21"/>
          <p:cNvSpPr/>
          <p:nvPr/>
        </p:nvSpPr>
        <p:spPr>
          <a:xfrm>
            <a:off x="8001000" y="3446374"/>
            <a:ext cx="137160" cy="137160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24" name="Shape 22"/>
          <p:cNvSpPr/>
          <p:nvPr/>
        </p:nvSpPr>
        <p:spPr>
          <a:xfrm>
            <a:off x="9235440" y="3753612"/>
            <a:ext cx="137160" cy="137160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25" name="Shape 23"/>
          <p:cNvSpPr/>
          <p:nvPr/>
        </p:nvSpPr>
        <p:spPr>
          <a:xfrm>
            <a:off x="7383780" y="4060850"/>
            <a:ext cx="137160" cy="137160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58400" y="2678278"/>
            <a:ext cx="137160" cy="137160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27" name="Shape 25"/>
          <p:cNvSpPr/>
          <p:nvPr/>
        </p:nvSpPr>
        <p:spPr>
          <a:xfrm>
            <a:off x="8412480" y="4316882"/>
            <a:ext cx="137160" cy="137160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28" name="Shape 26"/>
          <p:cNvSpPr/>
          <p:nvPr/>
        </p:nvSpPr>
        <p:spPr>
          <a:xfrm>
            <a:off x="10757916" y="4060850"/>
            <a:ext cx="137160" cy="137160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29" name="Shape 27"/>
          <p:cNvSpPr/>
          <p:nvPr/>
        </p:nvSpPr>
        <p:spPr>
          <a:xfrm>
            <a:off x="9029700" y="3190342"/>
            <a:ext cx="137160" cy="137160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30" name="Shape 28"/>
          <p:cNvSpPr/>
          <p:nvPr/>
        </p:nvSpPr>
        <p:spPr>
          <a:xfrm>
            <a:off x="9646920" y="4470502"/>
            <a:ext cx="137160" cy="137160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49834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A →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16200000">
            <a:off x="6784848" y="2011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B ↑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Search: faster coverage, less exhaustive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06424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9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Search — Strengths &amp;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697480"/>
          </a:xfrm>
          <a:prstGeom prst="roundRect">
            <a:avLst>
              <a:gd name="adj" fmla="val 3390"/>
            </a:avLst>
          </a:prstGeom>
          <a:solidFill>
            <a:srgbClr val="E9F1E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237744" cy="237744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22128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efficient in high-dimensional spaces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237744" cy="237744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803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8072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find good results faster than Grid Search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474720"/>
            <a:ext cx="237744" cy="237744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747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34015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control search budget (number of trials)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5394960" cy="2697480"/>
          </a:xfrm>
          <a:prstGeom prst="roundRect">
            <a:avLst>
              <a:gd name="adj" fmla="val 3390"/>
            </a:avLst>
          </a:prstGeom>
          <a:solidFill>
            <a:srgbClr val="F6EAE9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1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92240" y="2286000"/>
            <a:ext cx="237744" cy="237744"/>
          </a:xfrm>
          <a:prstGeom prst="ellipse">
            <a:avLst/>
          </a:prstGeom>
          <a:solidFill>
            <a:srgbClr val="A13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2860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221284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guarantee of finding the true optimum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2880360"/>
            <a:ext cx="237744" cy="237744"/>
          </a:xfrm>
          <a:prstGeom prst="ellipse">
            <a:avLst/>
          </a:prstGeom>
          <a:solidFill>
            <a:srgbClr val="A13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8803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28072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can vary between runs (randomness)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92240" y="3474720"/>
            <a:ext cx="237744" cy="237744"/>
          </a:xfrm>
          <a:prstGeom prst="ellipse">
            <a:avLst/>
          </a:prstGeom>
          <a:solidFill>
            <a:srgbClr val="A13F3A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4747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340156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still miss important regions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4805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6451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same 125-combination space, Random Search might sample only 20 random trials — much faster, while still often finding a near-optimal result.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large search spaces with limited time/compute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6424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9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 an SVM Classifier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task, same 125-combination search space (C, kernel, gamma) — accuracy achieved as the number of trials increases.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83080"/>
          <a:ext cx="68580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783080"/>
            <a:ext cx="3977640" cy="1920240"/>
          </a:xfrm>
          <a:prstGeom prst="roundRect">
            <a:avLst>
              <a:gd name="adj" fmla="val 4762"/>
            </a:avLst>
          </a:prstGeom>
          <a:solidFill>
            <a:srgbClr val="F4F6F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19385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863840" y="2194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863840" y="27889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needed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reach 94.2%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738360" y="21945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94.2%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738360" y="26700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635240" y="3931920"/>
            <a:ext cx="3977640" cy="1920240"/>
          </a:xfrm>
          <a:prstGeom prst="roundRect">
            <a:avLst>
              <a:gd name="adj" fmla="val 4762"/>
            </a:avLst>
          </a:prstGeom>
          <a:solidFill>
            <a:srgbClr val="1B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0" y="40873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89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863840" y="4343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7863840" y="49377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needed to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~93.8%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46920" y="4343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9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6.25×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646920" y="481888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trials for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near-equal accuracy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06424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Search vs. Random Search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017520" cy="603504"/>
          </a:xfrm>
          <a:prstGeom prst="rect">
            <a:avLst/>
          </a:prstGeom>
          <a:solidFill>
            <a:srgbClr val="1B2A4A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00200"/>
            <a:ext cx="2697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566160" y="1600200"/>
            <a:ext cx="4023360" cy="603504"/>
          </a:xfrm>
          <a:prstGeom prst="rect">
            <a:avLst/>
          </a:prstGeom>
          <a:solidFill>
            <a:srgbClr val="1B2A4A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30752" y="1600200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589520" y="1600200"/>
            <a:ext cx="4023360" cy="603504"/>
          </a:xfrm>
          <a:prstGeom prst="rect">
            <a:avLst/>
          </a:prstGeom>
          <a:solidFill>
            <a:srgbClr val="1B2A4A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54112" y="1600200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203704"/>
            <a:ext cx="30175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03704"/>
            <a:ext cx="2697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Method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66160" y="2203704"/>
            <a:ext cx="40233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2203704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(all combinations)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2203704"/>
            <a:ext cx="40233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54112" y="2203704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sampling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807208"/>
            <a:ext cx="3017520" cy="603504"/>
          </a:xfrm>
          <a:prstGeom prst="rect">
            <a:avLst/>
          </a:prstGeom>
          <a:solidFill>
            <a:srgbClr val="F4F6FA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807208"/>
            <a:ext cx="2697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66160" y="2807208"/>
            <a:ext cx="4023360" cy="603504"/>
          </a:xfrm>
          <a:prstGeom prst="rect">
            <a:avLst/>
          </a:prstGeom>
          <a:solidFill>
            <a:srgbClr val="F4F6FA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2807208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grows exponentially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0" y="2807208"/>
            <a:ext cx="4023360" cy="603504"/>
          </a:xfrm>
          <a:prstGeom prst="rect">
            <a:avLst/>
          </a:prstGeom>
          <a:solidFill>
            <a:srgbClr val="F4F6FA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54112" y="2807208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fixed budget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410712"/>
            <a:ext cx="30175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410712"/>
            <a:ext cx="2697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566160" y="3410712"/>
            <a:ext cx="40233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3410712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within the grid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89520" y="3410712"/>
            <a:ext cx="40233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54112" y="3410712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but incomplete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014216"/>
            <a:ext cx="3017520" cy="603504"/>
          </a:xfrm>
          <a:prstGeom prst="rect">
            <a:avLst/>
          </a:prstGeom>
          <a:solidFill>
            <a:srgbClr val="F4F6FA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4014216"/>
            <a:ext cx="2697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566160" y="4014216"/>
            <a:ext cx="4023360" cy="603504"/>
          </a:xfrm>
          <a:prstGeom prst="rect">
            <a:avLst/>
          </a:prstGeom>
          <a:solidFill>
            <a:srgbClr val="F4F6FA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0752" y="4014216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hyperparameters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589520" y="4014216"/>
            <a:ext cx="4023360" cy="603504"/>
          </a:xfrm>
          <a:prstGeom prst="rect">
            <a:avLst/>
          </a:prstGeom>
          <a:solidFill>
            <a:srgbClr val="F4F6FA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54112" y="4014216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hyperparameters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4617720"/>
            <a:ext cx="30175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4617720"/>
            <a:ext cx="2697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566160" y="4617720"/>
            <a:ext cx="40233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30752" y="4617720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deterministic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589520" y="4617720"/>
            <a:ext cx="40233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54112" y="4617720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random seed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depends on search space size, compute budget, and time available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06424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274320" cy="274320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187452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simple, widely-used baseline tuning strategies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274320" cy="274320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265176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Search: thorough, best when the search space is small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520440"/>
            <a:ext cx="274320" cy="274320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34290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Search: efficient, scales better to many hyperparameters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274320" cy="274320"/>
          </a:xfrm>
          <a:prstGeom prst="ellipse">
            <a:avLst/>
          </a:prstGeom>
          <a:solidFill>
            <a:srgbClr val="B8933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420624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uses past results to guide the next trial — more advanced methods (e.g. Bayesian Optimization) build on this idea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5943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7E1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06424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D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746</Words>
  <Application>Microsoft Office PowerPoint</Application>
  <PresentationFormat>Widescreen</PresentationFormat>
  <Paragraphs>171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3</cp:revision>
  <dcterms:created xsi:type="dcterms:W3CDTF">2026-07-13T19:29:38Z</dcterms:created>
  <dcterms:modified xsi:type="dcterms:W3CDTF">2026-07-15T02:56:13Z</dcterms:modified>
</cp:coreProperties>
</file>