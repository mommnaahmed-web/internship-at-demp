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Loss vs. Error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MSE</c:v>
                </c:pt>
              </c:strCache>
            </c:strRef>
          </c:tx>
          <c:spPr>
            <a:ln w="31750" cap="flat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</c:v>
                </c:pt>
                <c:pt idx="1">
                  <c:v>4</c:v>
                </c:pt>
                <c:pt idx="2">
                  <c:v>1</c:v>
                </c:pt>
                <c:pt idx="3">
                  <c:v>0</c:v>
                </c:pt>
                <c:pt idx="4">
                  <c:v>1</c:v>
                </c:pt>
                <c:pt idx="5">
                  <c:v>4</c:v>
                </c:pt>
                <c:pt idx="6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07C-4D37-81E1-16762EE0E7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Huber(δ=1.5)</c:v>
                </c:pt>
              </c:strCache>
            </c:strRef>
          </c:tx>
          <c:spPr>
            <a:ln w="31750" cap="flat">
              <a:solidFill>
                <a:srgbClr val="E8871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871E"/>
              </a:solidFill>
              <a:ln w="9525" cap="flat">
                <a:solidFill>
                  <a:srgbClr val="E8871E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-3</c:v>
                </c:pt>
                <c:pt idx="1">
                  <c:v>-2</c:v>
                </c:pt>
                <c:pt idx="2">
                  <c:v>-1</c:v>
                </c:pt>
                <c:pt idx="3">
                  <c:v>0</c:v>
                </c:pt>
                <c:pt idx="4">
                  <c:v>1</c:v>
                </c:pt>
                <c:pt idx="5">
                  <c:v>2</c:v>
                </c:pt>
                <c:pt idx="6">
                  <c:v>3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3.75</c:v>
                </c:pt>
                <c:pt idx="1">
                  <c:v>2</c:v>
                </c:pt>
                <c:pt idx="2">
                  <c:v>0.5</c:v>
                </c:pt>
                <c:pt idx="3">
                  <c:v>0</c:v>
                </c:pt>
                <c:pt idx="4">
                  <c:v>0.5</c:v>
                </c:pt>
                <c:pt idx="5">
                  <c:v>2</c:v>
                </c:pt>
                <c:pt idx="6">
                  <c:v>3.75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07C-4D37-81E1-16762EE0E7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9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Cost Surface J(</a:t>
            </a:r>
            <a:r>
              <a:rPr lang="el-GR" sz="1200" b="0" i="0" u="none" strike="noStrike">
                <a:solidFill>
                  <a:srgbClr val="000000"/>
                </a:solidFill>
                <a:latin typeface="Arial"/>
              </a:rPr>
              <a:t>θ)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</c:v>
                </c:pt>
              </c:strCache>
            </c:strRef>
          </c:tx>
          <c:spPr>
            <a:ln w="38100" cap="flat">
              <a:solidFill>
                <a:srgbClr val="6C348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C3483"/>
              </a:solidFill>
              <a:ln w="9525" cap="flat">
                <a:solidFill>
                  <a:srgbClr val="6C3483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-5</c:v>
                </c:pt>
                <c:pt idx="1">
                  <c:v>-4</c:v>
                </c:pt>
                <c:pt idx="2">
                  <c:v>-3</c:v>
                </c:pt>
                <c:pt idx="3">
                  <c:v>-2</c:v>
                </c:pt>
                <c:pt idx="4">
                  <c:v>-1</c:v>
                </c:pt>
                <c:pt idx="5">
                  <c:v>0</c:v>
                </c:pt>
                <c:pt idx="6">
                  <c:v>1</c:v>
                </c:pt>
                <c:pt idx="7">
                  <c:v>2</c:v>
                </c:pt>
                <c:pt idx="8">
                  <c:v>3</c:v>
                </c:pt>
                <c:pt idx="9">
                  <c:v>4</c:v>
                </c:pt>
                <c:pt idx="10">
                  <c:v>5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25</c:v>
                </c:pt>
                <c:pt idx="1">
                  <c:v>16</c:v>
                </c:pt>
                <c:pt idx="2">
                  <c:v>9</c:v>
                </c:pt>
                <c:pt idx="3">
                  <c:v>4</c:v>
                </c:pt>
                <c:pt idx="4">
                  <c:v>1</c:v>
                </c:pt>
                <c:pt idx="5">
                  <c:v>0</c:v>
                </c:pt>
                <c:pt idx="6">
                  <c:v>1</c:v>
                </c:pt>
                <c:pt idx="7">
                  <c:v>4</c:v>
                </c:pt>
                <c:pt idx="8">
                  <c:v>9</c:v>
                </c:pt>
                <c:pt idx="9">
                  <c:v>16</c:v>
                </c:pt>
                <c:pt idx="10">
                  <c:v>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84A-405F-9984-B92BA51F2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l-GR" b="0" i="0" u="none" strike="noStrike">
                    <a:solidFill>
                      <a:srgbClr val="000000"/>
                    </a:solidFill>
                    <a:latin typeface="Arial"/>
                  </a:rPr>
                  <a:t>θ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9C4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Cost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Convergence Path — Illustrative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Batch GD</c:v>
                </c:pt>
              </c:strCache>
            </c:strRef>
          </c:tx>
          <c:spPr>
            <a:ln w="31750" cap="flat">
              <a:solidFill>
                <a:srgbClr val="4A23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235A"/>
              </a:solidFill>
              <a:ln w="9525" cap="flat">
                <a:solidFill>
                  <a:srgbClr val="4A235A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</c:v>
                </c:pt>
                <c:pt idx="1">
                  <c:v>7</c:v>
                </c:pt>
                <c:pt idx="2">
                  <c:v>5</c:v>
                </c:pt>
                <c:pt idx="3">
                  <c:v>3.5</c:v>
                </c:pt>
                <c:pt idx="4">
                  <c:v>2.5</c:v>
                </c:pt>
                <c:pt idx="5">
                  <c:v>1.8</c:v>
                </c:pt>
                <c:pt idx="6">
                  <c:v>1.3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26A-44E0-8C1C-4B65C88661A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SGD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</c:v>
                </c:pt>
                <c:pt idx="1">
                  <c:v>6</c:v>
                </c:pt>
                <c:pt idx="2">
                  <c:v>7</c:v>
                </c:pt>
                <c:pt idx="3">
                  <c:v>4</c:v>
                </c:pt>
                <c:pt idx="4">
                  <c:v>5</c:v>
                </c:pt>
                <c:pt idx="5">
                  <c:v>2.5</c:v>
                </c:pt>
                <c:pt idx="6">
                  <c:v>3</c:v>
                </c:pt>
                <c:pt idx="7">
                  <c:v>1.2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26A-44E0-8C1C-4B65C88661A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Mini-Batch</c:v>
                </c:pt>
              </c:strCache>
            </c:strRef>
          </c:tx>
          <c:spPr>
            <a:ln w="3175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</c:v>
                </c:pt>
                <c:pt idx="1">
                  <c:v>6.5</c:v>
                </c:pt>
                <c:pt idx="2">
                  <c:v>4.5</c:v>
                </c:pt>
                <c:pt idx="3">
                  <c:v>3.2</c:v>
                </c:pt>
                <c:pt idx="4">
                  <c:v>2.2000000000000002</c:v>
                </c:pt>
                <c:pt idx="5">
                  <c:v>1.6</c:v>
                </c:pt>
                <c:pt idx="6">
                  <c:v>1.2</c:v>
                </c:pt>
                <c:pt idx="7">
                  <c:v>0.9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26A-44E0-8C1C-4B65C88661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Iteration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9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</a:rPr>
              <a:t>Loss Curves &amp; Early Stopping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ln w="31750" cap="flat">
              <a:solidFill>
                <a:srgbClr val="4A235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A235A"/>
              </a:solidFill>
              <a:ln w="9525" cap="flat">
                <a:solidFill>
                  <a:srgbClr val="4A235A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0.55000000000000004</c:v>
                </c:pt>
                <c:pt idx="2">
                  <c:v>0.35</c:v>
                </c:pt>
                <c:pt idx="3">
                  <c:v>0.24</c:v>
                </c:pt>
                <c:pt idx="4">
                  <c:v>0.17</c:v>
                </c:pt>
                <c:pt idx="5">
                  <c:v>0.12</c:v>
                </c:pt>
                <c:pt idx="6">
                  <c:v>0.09</c:v>
                </c:pt>
                <c:pt idx="7">
                  <c:v>7.0000000000000007E-2</c:v>
                </c:pt>
                <c:pt idx="8">
                  <c:v>0.05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0C0-4050-8C90-5DCC5439E0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 Loss</c:v>
                </c:pt>
              </c:strCache>
            </c:strRef>
          </c:tx>
          <c:spPr>
            <a:ln w="3175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1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1.05</c:v>
                </c:pt>
                <c:pt idx="1">
                  <c:v>0.6</c:v>
                </c:pt>
                <c:pt idx="2">
                  <c:v>0.4</c:v>
                </c:pt>
                <c:pt idx="3">
                  <c:v>0.28999999999999998</c:v>
                </c:pt>
                <c:pt idx="4">
                  <c:v>0.24</c:v>
                </c:pt>
                <c:pt idx="5">
                  <c:v>0.23</c:v>
                </c:pt>
                <c:pt idx="6">
                  <c:v>0.25</c:v>
                </c:pt>
                <c:pt idx="7">
                  <c:v>0.28999999999999998</c:v>
                </c:pt>
                <c:pt idx="8">
                  <c:v>0.34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0C0-4050-8C90-5DCC5439E0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D9C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934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463040"/>
            <a:ext cx="4937760" cy="4937760"/>
          </a:xfrm>
          <a:prstGeom prst="ellipse">
            <a:avLst/>
          </a:prstGeom>
          <a:solidFill>
            <a:srgbClr val="B9770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463040" y="4389120"/>
            <a:ext cx="3657600" cy="3657600"/>
          </a:xfrm>
          <a:prstGeom prst="ellipse">
            <a:avLst/>
          </a:prstGeom>
          <a:solidFill>
            <a:srgbClr val="6C3483">
              <a:alpha val="5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10881360" y="4023360"/>
            <a:ext cx="2194560" cy="2194560"/>
          </a:xfrm>
          <a:prstGeom prst="ellipse">
            <a:avLst/>
          </a:prstGeom>
          <a:solidFill>
            <a:srgbClr val="E8871E">
              <a:alpha val="4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0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 TRAINING 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How a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Learns From Data</a:t>
            </a:r>
            <a:endParaRPr lang="en-US" sz="4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LEARN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 smtClean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13232" y="19110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17320" y="178308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how a network improves with each training pass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336792" y="191109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0" y="178308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the math that drives training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13232" y="2871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417320" y="274320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regression &amp; classification loss functions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72200" y="274320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336792" y="287121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040880" y="274320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gradient descent from scratch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3232" y="38313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417320" y="370332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gradients through backpropagation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70332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336792" y="383133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40880" y="370332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optimizer algorithms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66344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13232" y="47914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17320" y="466344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learning curves to catch overfitting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172200" y="4663440"/>
            <a:ext cx="5349240" cy="804672"/>
          </a:xfrm>
          <a:prstGeom prst="roundRect">
            <a:avLst>
              <a:gd name="adj" fmla="val 11364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336792" y="4791456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977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040880" y="4663440"/>
            <a:ext cx="4343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real ANN on Fashion MNIST with Keras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60-Second Recap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874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23042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-&gt; hidden -&gt; output; each layer transforms the signal a bit further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32461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biases &amp; activations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234440" y="36758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Learnable parameters plus a non-linearity (ReLU, sigmoid, softmax...)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66344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6177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propagation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234440" y="504748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 through the network once to produce a prediction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Loop - Five Steps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23360" y="1828800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 prediction ŷ for the current inputs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2670048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Measurement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023360" y="2670048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ŷ against the true label 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557016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4A23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68680" y="3511296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Aggregation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023360" y="3511296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errors across the batch into one number J(θ)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398264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68680" y="4352544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Update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23360" y="4352544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every weight &amp; bias toward lower cost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239512"/>
            <a:ext cx="128016" cy="658368"/>
          </a:xfrm>
          <a:prstGeom prst="roundRect">
            <a:avLst>
              <a:gd name="adj" fmla="val 14286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68680" y="5193792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23360" y="5193792"/>
            <a:ext cx="7406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 for the next batch, across every epoch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TRAINING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Training Loop - Diagram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97280" y="178308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325880" y="17830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703320" y="178308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f(x)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072384" y="2615184"/>
            <a:ext cx="256032" cy="320040"/>
          </a:xfrm>
          <a:prstGeom prst="downArrow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97280" y="283464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325880" y="283464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Error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03320" y="283464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− 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072384" y="3666744"/>
            <a:ext cx="256032" cy="320040"/>
          </a:xfrm>
          <a:prstGeom prst="downArrow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1097280" y="388620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325880" y="388620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Cost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03320" y="388620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J(θ)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72384" y="4718304"/>
            <a:ext cx="256032" cy="320040"/>
          </a:xfrm>
          <a:prstGeom prst="downArrow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1097280" y="4937760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325880" y="493776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Parameters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703320" y="4937760"/>
            <a:ext cx="1463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-= η·∇J(θ)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2171700"/>
            <a:ext cx="0" cy="315468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3200400" y="2171700"/>
            <a:ext cx="237744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3200400" y="5326380"/>
            <a:ext cx="237744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  <a:headEnd type="none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5669280" y="325526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Functions - Regression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23774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 (concept)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Use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mean(|y − ŷ|)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Outliers don't dominate the loss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mean((y − ŷ)²)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gradient, punishes big misses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√MSE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Reports error in the target's own units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near 0, linear beyond δ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Tunable middle ground between MAE and MSE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/ outlier-prone data -&gt; MAE or Huber. Error-sensitive tasks -&gt; MSE or RMSE.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5074920"/>
          <a:ext cx="512064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Functions - Classification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classes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306324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B9770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−[y·log(ŷ) + (1−y)·log(1−ŷ)]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4069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output, single probability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82880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Cross-Entropy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8056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E0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Multi-class, one-hot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80560" y="306324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4A23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2971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0C9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−Σ yᵢ·log(ŷᵢ)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480560" y="4069080"/>
            <a:ext cx="3154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output, one-hot labels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063240"/>
            <a:ext cx="3154680" cy="822960"/>
          </a:xfrm>
          <a:prstGeom prst="roundRect">
            <a:avLst>
              <a:gd name="adj" fmla="val 6667"/>
            </a:avLst>
          </a:prstGeom>
          <a:solidFill>
            <a:srgbClr val="FFF8F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 Comparison at a Glance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6415497"/>
              </p:ext>
            </p:extLst>
          </p:nvPr>
        </p:nvGraphicFramePr>
        <p:xfrm>
          <a:off x="548640" y="1828800"/>
          <a:ext cx="11064240" cy="360534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77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77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77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 Case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B9770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Smooth, penalizes large errors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Real-estate price prediction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Robust to outliers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Sales/demand forecasting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of both worlds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 / robust regression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Well-calibrated probabilities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Fraud vs. legitimate transaction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Categorical 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for softmax outputs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Garment / object classification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 - The Core Idea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3949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063240" y="4526280"/>
            <a:ext cx="182880" cy="18288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8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2880360" y="473659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309360" y="196596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492240" y="203911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Surface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2240" y="235000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J changes as parameters change - a bowl shape for convex problems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309360" y="292608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6492240" y="29992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(∇J)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92240" y="331012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toward the steepest increase - we step opposite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388620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1"/>
          <p:cNvSpPr/>
          <p:nvPr/>
        </p:nvSpPr>
        <p:spPr>
          <a:xfrm>
            <a:off x="6492240" y="395935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(η)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92240" y="4270248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size; too large diverges, too small wastes epochs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309360" y="4892040"/>
            <a:ext cx="5303520" cy="640080"/>
          </a:xfrm>
          <a:prstGeom prst="rect">
            <a:avLst/>
          </a:prstGeom>
          <a:solidFill>
            <a:srgbClr val="4A235A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 &lt;- θ − η·∇J(θ)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Descent Variants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4A23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uses all training data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stable, slow per update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48056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uses one sample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8056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but fast, can escape local minima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2011680"/>
          </a:xfrm>
          <a:prstGeom prst="roundRect">
            <a:avLst>
              <a:gd name="adj" fmla="val 4545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22960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Mini-Batch GD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0" y="24231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uses a small batch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0" y="31089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0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in nearly every real pipeline</a:t>
            </a:r>
            <a:endParaRPr lang="en-US" sz="11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548640" y="4114800"/>
          <a:ext cx="1106424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 - Tracing the Gradient Back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828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Signal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937760" y="182880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 error travels backward, one layer at a time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8803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88036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∂J/∂w = ∂J/∂a · ∂a/∂u · ∂u/∂w - breaks a complex derivative into simple pieces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9319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Update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393192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weight shifts opposite to its share of the gradient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029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983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Update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4983480"/>
            <a:ext cx="6583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Biases update the same way, using ∂J/∂b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Computational Graph View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329184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32918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011680"/>
            <a:ext cx="8229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2608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92608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Wx+b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σ(u)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046720" y="2651760"/>
            <a:ext cx="1737360" cy="731520"/>
          </a:xfrm>
          <a:prstGeom prst="roundRect">
            <a:avLst>
              <a:gd name="adj" fmla="val 12500"/>
            </a:avLst>
          </a:prstGeom>
          <a:solidFill>
            <a:srgbClr val="6C3483"/>
          </a:solidFill>
          <a:ln w="12700">
            <a:solidFill>
              <a:srgbClr val="8E5AA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04672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J(a,y)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828800" y="2788920"/>
            <a:ext cx="914400" cy="228600"/>
          </a:xfrm>
          <a:prstGeom prst="rightArrow">
            <a:avLst/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0" y="2788920"/>
            <a:ext cx="822960" cy="228600"/>
          </a:xfrm>
          <a:prstGeom prst="rightArrow">
            <a:avLst/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132320" y="2788920"/>
            <a:ext cx="822960" cy="228600"/>
          </a:xfrm>
          <a:prstGeom prst="rightArrow">
            <a:avLst/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828800" y="356616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 -&gt;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32320" y="4023360"/>
            <a:ext cx="822960" cy="228600"/>
          </a:xfrm>
          <a:prstGeom prst="leftArrow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4572000" y="4023360"/>
            <a:ext cx="822960" cy="228600"/>
          </a:xfrm>
          <a:prstGeom prst="leftArrow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1828800" y="4023360"/>
            <a:ext cx="914400" cy="228600"/>
          </a:xfrm>
          <a:prstGeom prst="leftArrow">
            <a:avLst/>
          </a:prstGeom>
          <a:solidFill>
            <a:srgbClr val="E8871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5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&lt;- backward </a:t>
            </a:r>
            <a:r>
              <a:rPr lang="en-US" sz="1200" i="1" dirty="0" smtClean="0">
                <a:solidFill>
                  <a:srgbClr val="F5D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Optimizers - SGD, Momentum, RMSProp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4A23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uses only the current gradient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152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but can oscillate on steep ravines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480560" y="2011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48056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8056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velocity term that accumulates past gradients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48056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oscillation, speeds convergence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520440" cy="3657600"/>
          </a:xfrm>
          <a:prstGeom prst="roundRect">
            <a:avLst>
              <a:gd name="adj" fmla="val 2597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8229600" y="2011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RMSProp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0" y="265176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the learning rate per-parameter using a moving average of squared gradients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429768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non-stationary objectives well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Optimizers - </a:t>
            </a:r>
            <a:r>
              <a:rPr lang="en-US" sz="3200" b="1" dirty="0" smtClean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Adam </a:t>
            </a: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Comparison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6902723"/>
              </p:ext>
            </p:extLst>
          </p:nvPr>
        </p:nvGraphicFramePr>
        <p:xfrm>
          <a:off x="548640" y="1828800"/>
          <a:ext cx="11064240" cy="25908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Per-Param LR?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Use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SGD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models, hand-tuned LR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Momentum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Speeding through shallow ravines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RMSProp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Non-stationary objectives, RNNs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default choice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Epoch vs. Batch vs. Iteration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4A235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2148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743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training examples processed before one parameter update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9202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B9770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526280" y="2148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26280" y="2743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parameter update - i.e. one pass through a single batch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920240"/>
            <a:ext cx="3520440" cy="2194560"/>
          </a:xfrm>
          <a:prstGeom prst="roundRect">
            <a:avLst>
              <a:gd name="adj" fmla="val 4167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75320" y="214884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75320" y="2743200"/>
            <a:ext cx="3063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 pass through the entire training dataset (many iterations)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2960" y="443484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10,000 training examples, batch size = 100 -&gt; 100 iterations = 1 epoch. Training for 20 epochs means the network sees the full dataset 20 times.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TRAINING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Curves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828800"/>
          <a:ext cx="54864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4023360" y="2103120"/>
            <a:ext cx="0" cy="2743200"/>
          </a:xfrm>
          <a:prstGeom prst="line">
            <a:avLst/>
          </a:prstGeom>
          <a:noFill/>
          <a:ln w="25400">
            <a:solidFill>
              <a:srgbClr val="2E8B57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4160520" y="210312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40080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Loss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0" y="226771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data the model has already seen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400800" y="2788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Loss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0" y="313639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on held-out data - the real signal for overfitting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400800" y="3657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Curve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0" y="400507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correct-prediction rate over epochs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400800" y="45262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400800" y="487375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Halt training when validation loss stops improving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Common Training Problems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1732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shrink toward zero across deep layers; early layers stop learning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8288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4652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202996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Exploding Gradient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grow huge; weights diverge, loss becomes NaN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3E6D8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422452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2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Initialization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B2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starting weights cause slow or unstable convergence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977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PROBLEMS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4A23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Fixing Common Training Problems</a:t>
            </a:r>
            <a:endParaRPr lang="en-US" sz="3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893811"/>
              </p:ext>
            </p:extLst>
          </p:nvPr>
        </p:nvGraphicFramePr>
        <p:xfrm>
          <a:off x="548640" y="1828800"/>
          <a:ext cx="11064240" cy="2340864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55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Solution(s)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4A2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Vanishing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ReLU-family activations, residual/skip connections, batch normalization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Exploding Gradient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clipping, smaller learning rate, careful weight initialization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Initialization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1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 / Xavier (Glorot) initialization matched to the activation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3E6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0C9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 Practices for Training ANNs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914400" y="2121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Scheduling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or warm-restart the LR over training for stability + speed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920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0" y="21214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Selection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batches generalize better; large batches train faster per step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42702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Selection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8463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validation performance, not a fixed number, to decide when to stop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406908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6C348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492240" y="427024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92240" y="48463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best-performing weights during training to recover / resume safely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338560" y="64008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9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A23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B9770E">
              <a:alpha val="4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- How Networks Learn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8366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is a loop: forward pass -&gt; error -&gt; cost -&gt; parameter update -&gt; repeat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42032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005840" y="2487168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functions define what "wrong" means; pick the one that fits the task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2004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005840" y="3145536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(batch / SGD / mini-batch) drives every parameter update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58768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3803904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uses the chain rule to compute gradients efficiently, layer by layer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517136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1005840" y="4462272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(SGD -&gt; Momentum -&gt; RMSProp -&gt; Adam/AdamW) speed up and stabilize convergence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175504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1005840" y="512064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3E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curves + best practices keep training stable and generalizable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1136</Words>
  <Application>Microsoft Office PowerPoint</Application>
  <PresentationFormat>Widescreen</PresentationFormat>
  <Paragraphs>289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4</cp:revision>
  <dcterms:created xsi:type="dcterms:W3CDTF">2026-07-22T05:47:13Z</dcterms:created>
  <dcterms:modified xsi:type="dcterms:W3CDTF">2026-07-23T03:24:25Z</dcterms:modified>
</cp:coreProperties>
</file>