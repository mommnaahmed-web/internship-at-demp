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Loss vs. Error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</c:v>
                </c:pt>
              </c:strCache>
            </c:strRef>
          </c:tx>
          <c:spPr>
            <a:ln w="31750" cap="flat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-3</c:v>
                </c:pt>
                <c:pt idx="1">
                  <c:v>-2</c:v>
                </c:pt>
                <c:pt idx="2">
                  <c:v>-1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4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4</c:v>
                </c:pt>
                <c:pt idx="6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7C-4D37-81E1-16762EE0E7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Huber(δ=1.5)</c:v>
                </c:pt>
              </c:strCache>
            </c:strRef>
          </c:tx>
          <c:spPr>
            <a:ln w="31750" cap="flat">
              <a:solidFill>
                <a:srgbClr val="E887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71E"/>
              </a:solidFill>
              <a:ln w="9525" cap="flat">
                <a:solidFill>
                  <a:srgbClr val="E8871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-3</c:v>
                </c:pt>
                <c:pt idx="1">
                  <c:v>-2</c:v>
                </c:pt>
                <c:pt idx="2">
                  <c:v>-1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3.75</c:v>
                </c:pt>
                <c:pt idx="1">
                  <c:v>2</c:v>
                </c:pt>
                <c:pt idx="2">
                  <c:v>0.5</c:v>
                </c:pt>
                <c:pt idx="3">
                  <c:v>0</c:v>
                </c:pt>
                <c:pt idx="4">
                  <c:v>0.5</c:v>
                </c:pt>
                <c:pt idx="5">
                  <c:v>2</c:v>
                </c:pt>
                <c:pt idx="6">
                  <c:v>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7C-4D37-81E1-16762EE0E7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9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Cost Surface J(</a:t>
            </a:r>
            <a:r>
              <a:rPr lang="el-GR" sz="1200" b="0" i="0" u="none" strike="noStrike">
                <a:solidFill>
                  <a:srgbClr val="000000"/>
                </a:solidFill>
                <a:latin typeface="Arial"/>
              </a:rPr>
              <a:t>θ)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 w="38100" cap="flat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</c:v>
                </c:pt>
                <c:pt idx="1">
                  <c:v>16</c:v>
                </c:pt>
                <c:pt idx="2">
                  <c:v>9</c:v>
                </c:pt>
                <c:pt idx="3">
                  <c:v>4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4</c:v>
                </c:pt>
                <c:pt idx="8">
                  <c:v>9</c:v>
                </c:pt>
                <c:pt idx="9">
                  <c:v>16</c:v>
                </c:pt>
                <c:pt idx="10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4A-405F-9984-B92BA51F2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l-GR" b="0" i="0" u="none" strike="noStrike">
                    <a:solidFill>
                      <a:srgbClr val="000000"/>
                    </a:solidFill>
                    <a:latin typeface="Arial"/>
                  </a:rPr>
                  <a:t>θ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9C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Cost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Convergence Path — Illustrative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Batch GD</c:v>
                </c:pt>
              </c:strCache>
            </c:strRef>
          </c:tx>
          <c:spPr>
            <a:ln w="31750" cap="flat">
              <a:solidFill>
                <a:srgbClr val="4A23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235A"/>
              </a:solidFill>
              <a:ln w="9525" cap="flat">
                <a:solidFill>
                  <a:srgbClr val="4A235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7</c:v>
                </c:pt>
                <c:pt idx="2">
                  <c:v>5</c:v>
                </c:pt>
                <c:pt idx="3">
                  <c:v>3.5</c:v>
                </c:pt>
                <c:pt idx="4">
                  <c:v>2.5</c:v>
                </c:pt>
                <c:pt idx="5">
                  <c:v>1.8</c:v>
                </c:pt>
                <c:pt idx="6">
                  <c:v>1.3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6A-44E0-8C1C-4B65C88661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SGD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6</c:v>
                </c:pt>
                <c:pt idx="2">
                  <c:v>7</c:v>
                </c:pt>
                <c:pt idx="3">
                  <c:v>4</c:v>
                </c:pt>
                <c:pt idx="4">
                  <c:v>5</c:v>
                </c:pt>
                <c:pt idx="5">
                  <c:v>2.5</c:v>
                </c:pt>
                <c:pt idx="6">
                  <c:v>3</c:v>
                </c:pt>
                <c:pt idx="7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6A-44E0-8C1C-4B65C88661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Mini-Batch</c:v>
                </c:pt>
              </c:strCache>
            </c:strRef>
          </c:tx>
          <c:spPr>
            <a:ln w="3175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</c:v>
                </c:pt>
                <c:pt idx="1">
                  <c:v>6.5</c:v>
                </c:pt>
                <c:pt idx="2">
                  <c:v>4.5</c:v>
                </c:pt>
                <c:pt idx="3">
                  <c:v>3.2</c:v>
                </c:pt>
                <c:pt idx="4">
                  <c:v>2.2000000000000002</c:v>
                </c:pt>
                <c:pt idx="5">
                  <c:v>1.6</c:v>
                </c:pt>
                <c:pt idx="6">
                  <c:v>1.2</c:v>
                </c:pt>
                <c:pt idx="7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6A-44E0-8C1C-4B65C88661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Iteration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9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Loss Curves &amp; Early Stopping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1750" cap="flat">
              <a:solidFill>
                <a:srgbClr val="4A23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235A"/>
              </a:solidFill>
              <a:ln w="9525" cap="flat">
                <a:solidFill>
                  <a:srgbClr val="4A235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0.55000000000000004</c:v>
                </c:pt>
                <c:pt idx="2">
                  <c:v>0.35</c:v>
                </c:pt>
                <c:pt idx="3">
                  <c:v>0.24</c:v>
                </c:pt>
                <c:pt idx="4">
                  <c:v>0.17</c:v>
                </c:pt>
                <c:pt idx="5">
                  <c:v>0.12</c:v>
                </c:pt>
                <c:pt idx="6">
                  <c:v>0.09</c:v>
                </c:pt>
                <c:pt idx="7">
                  <c:v>7.0000000000000007E-2</c:v>
                </c:pt>
                <c:pt idx="8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C0-4050-8C90-5DCC5439E0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1.05</c:v>
                </c:pt>
                <c:pt idx="1">
                  <c:v>0.6</c:v>
                </c:pt>
                <c:pt idx="2">
                  <c:v>0.4</c:v>
                </c:pt>
                <c:pt idx="3">
                  <c:v>0.28999999999999998</c:v>
                </c:pt>
                <c:pt idx="4">
                  <c:v>0.24</c:v>
                </c:pt>
                <c:pt idx="5">
                  <c:v>0.23</c:v>
                </c:pt>
                <c:pt idx="6">
                  <c:v>0.25</c:v>
                </c:pt>
                <c:pt idx="7">
                  <c:v>0.28999999999999998</c:v>
                </c:pt>
                <c:pt idx="8">
                  <c:v>0.34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C0-4050-8C90-5DCC5439E0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9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934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463040"/>
            <a:ext cx="4937760" cy="4937760"/>
          </a:xfrm>
          <a:prstGeom prst="ellipse">
            <a:avLst/>
          </a:prstGeom>
          <a:solidFill>
            <a:srgbClr val="B9770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3657600" cy="3657600"/>
          </a:xfrm>
          <a:prstGeom prst="ellipse">
            <a:avLst/>
          </a:prstGeom>
          <a:solidFill>
            <a:srgbClr val="6C348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4023360"/>
            <a:ext cx="2194560" cy="2194560"/>
          </a:xfrm>
          <a:prstGeom prst="ellipse">
            <a:avLst/>
          </a:prstGeom>
          <a:solidFill>
            <a:srgbClr val="E8871E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0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TRAINING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How a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Learns From Data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110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 network improves with each training pass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</p:sp>
      <p:sp>
        <p:nvSpPr>
          <p:cNvPr id="8" name="Text 6"/>
          <p:cNvSpPr/>
          <p:nvPr/>
        </p:nvSpPr>
        <p:spPr>
          <a:xfrm>
            <a:off x="6336792" y="19110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0" y="178308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math that drives training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8712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regression &amp; classification loss functions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8712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40880" y="274320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gradient descent from scratch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8313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17320" y="370332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gradients through backpropagation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</p:sp>
      <p:sp>
        <p:nvSpPr>
          <p:cNvPr id="20" name="Text 18"/>
          <p:cNvSpPr/>
          <p:nvPr/>
        </p:nvSpPr>
        <p:spPr>
          <a:xfrm>
            <a:off x="6336792" y="38313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40880" y="370332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optimizer algorithms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7914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17320" y="466344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learning curves to catch overfitting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2200" y="466344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</p:sp>
      <p:sp>
        <p:nvSpPr>
          <p:cNvPr id="26" name="Text 24"/>
          <p:cNvSpPr/>
          <p:nvPr/>
        </p:nvSpPr>
        <p:spPr>
          <a:xfrm>
            <a:off x="6336792" y="47914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40880" y="466344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real ANN on Fashion MNIST with Keras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60-Second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C348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3042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hidden → output; each layer transforms the signal a bit further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C348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246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biases &amp; activations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6758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parameters plus a non-linearity (ReLU, sigmoid, softmax…)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C348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6177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50474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through the network once to produce a prediction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TRAINING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Loop — Five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6C348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prediction ŷ for the current inputs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B9770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7004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Measurement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267004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ŷ against the true label 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4A235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1129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Aggregation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3511296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errors across the batch into one number J(θ)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5254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Update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4352544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every weight &amp; bias toward lower cost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9379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519379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for the next batch, across every epoch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TRAINING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Loop —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78308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783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3320" y="17830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f(x)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72384" y="2615184"/>
            <a:ext cx="256032" cy="320040"/>
          </a:xfrm>
          <a:prstGeom prst="downArrow">
            <a:avLst/>
          </a:prstGeom>
          <a:solidFill>
            <a:srgbClr val="E8871E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83464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834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Error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28346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− 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72384" y="3666744"/>
            <a:ext cx="256032" cy="320040"/>
          </a:xfrm>
          <a:prstGeom prst="downArrow">
            <a:avLst/>
          </a:prstGeom>
          <a:solidFill>
            <a:srgbClr val="E8871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88620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38862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J(θ)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72384" y="4718304"/>
            <a:ext cx="256032" cy="320040"/>
          </a:xfrm>
          <a:prstGeom prst="downArrow">
            <a:avLst/>
          </a:prstGeom>
          <a:solidFill>
            <a:srgbClr val="E8871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493776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937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Parameters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49377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-= η·∇J(θ)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2171700"/>
            <a:ext cx="0" cy="315468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00400" y="2171700"/>
            <a:ext cx="237744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5326380"/>
            <a:ext cx="237744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  <a:headEnd type="none"/>
          </a:ln>
        </p:spPr>
      </p:sp>
      <p:sp>
        <p:nvSpPr>
          <p:cNvPr id="22" name="Text 20"/>
          <p:cNvSpPr/>
          <p:nvPr/>
        </p:nvSpPr>
        <p:spPr>
          <a:xfrm>
            <a:off x="5669280" y="325526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Functions — Regression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(concept)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Use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mean(|y − ŷ|)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don't dominate the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mean((y − ŷ)²)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gradient, punishes big misses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error in the target's own 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near 0, linear beyond 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Tunable middle ground between MAE and 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/ outlier-prone data → MAE or Huber. Error-sensitive tasks → MSE or RMSE.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5074920"/>
          <a:ext cx="51206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Functions — Classification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3E6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3154680" cy="82296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77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−[y·log(ŷ) + (1−y)·log(1−ŷ)]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output, single probability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6C348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116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0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Multi-class, one-hot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3063240"/>
            <a:ext cx="3154680" cy="822960"/>
          </a:xfrm>
          <a:prstGeom prst="roundRect">
            <a:avLst>
              <a:gd name="adj" fmla="val 6667"/>
            </a:avLst>
          </a:prstGeom>
          <a:solidFill>
            <a:srgbClr val="4A235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−Σ yᵢ·log(ŷᵢ)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4069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output, one-hot labels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3063240"/>
            <a:ext cx="3154680" cy="82296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 Comparison at a Glance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415497"/>
              </p:ext>
            </p:extLst>
          </p:nvPr>
        </p:nvGraphicFramePr>
        <p:xfrm>
          <a:off x="548640" y="1828800"/>
          <a:ext cx="11064240" cy="360534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977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977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977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977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Smooth, penalizes large errors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Real-estate price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outliers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Sales/demand forecasting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of both worlds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/ robust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Well-calibrated probabilities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vs. legitimate transaction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for softmax outputs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 / object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 — The Core Idea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3949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063240" y="4526280"/>
            <a:ext cx="182880" cy="1828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80360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09360" y="196596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3E6D8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0" y="20391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Surface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0" y="23500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 changes as parameters change — a bowl shape for convex problems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292608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3E6D8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29992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(∇J)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92240" y="33101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toward the steepest increase — we step opposite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388620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3E6D8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3959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(η)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92240" y="42702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size; too large diverges, too small wastes epochs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309360" y="4892040"/>
            <a:ext cx="5303520" cy="640080"/>
          </a:xfrm>
          <a:prstGeom prst="rect">
            <a:avLst/>
          </a:prstGeom>
          <a:solidFill>
            <a:srgbClr val="4A235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← θ − η·∇J(θ)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 Variants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4A23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uses all training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stable, slow per update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B9770E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uses one sample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but fast, can escape local minima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C348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uses a small batch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in nearly every real pipeline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4114800"/>
          <a:ext cx="11064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 — Tracing the Gradient 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Signal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1828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error travels backward, one layer at a time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∂J/∂w = ∂J/∂a · ∂a/∂u · ∂u/∂w — breaks a complex derivative into simple pieces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9319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shifts opposite to its share of the gradient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983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Update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49834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Biases update the same way, using ∂J/∂b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Computational Graph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91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Wx+b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26517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σ(u)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J(a,y)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2788920"/>
            <a:ext cx="914400" cy="228600"/>
          </a:xfrm>
          <a:prstGeom prst="rightArrow">
            <a:avLst/>
          </a:prstGeom>
          <a:solidFill>
            <a:srgbClr val="2E8B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2788920"/>
            <a:ext cx="822960" cy="228600"/>
          </a:xfrm>
          <a:prstGeom prst="rightArrow">
            <a:avLst/>
          </a:prstGeom>
          <a:solidFill>
            <a:srgbClr val="2E8B57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2788920"/>
            <a:ext cx="822960" cy="228600"/>
          </a:xfrm>
          <a:prstGeom prst="rightArrow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5661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4023360"/>
            <a:ext cx="822960" cy="228600"/>
          </a:xfrm>
          <a:prstGeom prst="leftArrow">
            <a:avLst/>
          </a:prstGeom>
          <a:solidFill>
            <a:srgbClr val="E8871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4023360"/>
            <a:ext cx="822960" cy="228600"/>
          </a:xfrm>
          <a:prstGeom prst="leftArrow">
            <a:avLst/>
          </a:prstGeom>
          <a:solidFill>
            <a:srgbClr val="E8871E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4023360"/>
            <a:ext cx="914400" cy="228600"/>
          </a:xfrm>
          <a:prstGeom prst="leftArrow">
            <a:avLst/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434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backward </a:t>
            </a:r>
            <a:r>
              <a:rPr lang="en-US" sz="1200" i="1" dirty="0" smtClean="0">
                <a:solidFill>
                  <a:srgbClr val="F5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Optimizers — SGD, Momentum, RMSProp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3E6D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4A23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uses only the current gradient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can oscillate on steep ravines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3E6D8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2011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B9770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velocity term that accumulates past gradients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0" y="42976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oscillation, speeds convergence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3E6D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2011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6C348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6517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learning rate per-parameter using a moving average of squared gradients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42976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non-stationary objectives well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Optimizers — </a:t>
            </a:r>
            <a:r>
              <a:rPr lang="en-US" sz="3200" b="1" dirty="0" smtClean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</a:t>
            </a: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Comparison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902723"/>
              </p:ext>
            </p:extLst>
          </p:nvPr>
        </p:nvGraphicFramePr>
        <p:xfrm>
          <a:off x="548640" y="1828800"/>
          <a:ext cx="11064240" cy="2590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Per-Param LR?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models, hand-tuned LR 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Speeding through shallow ravines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Non-stationary objectives, RNNs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default 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 vs. Batch vs. Iteration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4A23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training examples processed before one parameter update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B9770E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148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743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 update — i.e. one pass through a single batch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6C3483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148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743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pass through the entire training dataset (many iterations)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3E6D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434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10,000 training examples, batch size = 100 → 100 iterations = 1 epoch. Training for 20 epochs means the network sees the full dataset 20 times.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Curves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023360" y="2103120"/>
            <a:ext cx="0" cy="2743200"/>
          </a:xfrm>
          <a:prstGeom prst="line">
            <a:avLst/>
          </a:prstGeom>
          <a:noFill/>
          <a:ln w="25400">
            <a:solidFill>
              <a:srgbClr val="2E8B57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160520" y="2103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22677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data the model has already seen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31363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held-out data — the real signal for overfitting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Curve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40050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correct-prediction rate over epochs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0" y="4526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48737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training when validation loss stops improving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Training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E6D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shrink toward zero across deep layers; early layers stop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E6D8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2029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grow huge; weights diverge, loss becomes NaN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E6D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Initialization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starting weights cause slow or unstable convergence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Common Training Problems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893811"/>
              </p:ext>
            </p:extLst>
          </p:nvPr>
        </p:nvGraphicFramePr>
        <p:xfrm>
          <a:off x="548640" y="1828800"/>
          <a:ext cx="11064240" cy="234086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ReLU-family activations, residual/skip connections, batch normalization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Exploding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clipping, smaller learning rate, careful weight initialization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Initialization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/ Xavier (Glorot) initialization matched to the activation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 for Training ANNs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6C348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21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or warm-restart the LR over training for stability + speed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6C348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21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Selection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batches generalize better; large batches train faster per step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6C348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702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Selection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validation performance, not a fixed number, to decide when to 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6C3483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2702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8463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best-performing weights during training to recover / resume safely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B9770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— How Networks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288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a loop: forward pass → error → cost → parameter update → repeat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8716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define what "wrong" means; pick the one that fits the task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4553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(batch / SGD / mini-batch) drives every parameter update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587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03904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uses the chain rule to compute gradients efficiently, layer by layer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171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46227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(SGD → Momentum → RMSProp → Adam/AdamW) speed up and stabilize convergence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1755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1206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 + best practices keep training stable and generalizable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1139</Words>
  <Application>Microsoft Office PowerPoint</Application>
  <PresentationFormat>Widescreen</PresentationFormat>
  <Paragraphs>292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2026-07-22T05:47:13Z</dcterms:created>
  <dcterms:modified xsi:type="dcterms:W3CDTF">2026-07-22T03:50:34Z</dcterms:modified>
</cp:coreProperties>
</file>