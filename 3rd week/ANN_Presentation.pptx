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49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09728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1828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27432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13716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237744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210312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Neural Networks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Architecture, Mathematics &amp; Applications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80560" y="2194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vs Artificial Neuron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0" y="2194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063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36576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063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0" y="36576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663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" y="5120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45262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4663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80560" y="5120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Hyperparameters, Pros &amp; Cons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45262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0" y="4663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0" y="5120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Deep Learning &amp; ANN?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</a:t>
            </a: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performing tasks that normally require human intelligence.
</a:t>
            </a: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</a:t>
            </a: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patterns from data instead of explicit rules.
</a:t>
            </a: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</a:t>
            </a: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multi-layer Artificial Neural Networks to learn hierarchical representations.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 learns directly from data — mapping inputs to outputs through layers of weighted, activated connections — rather than following hand-written rules.</a:t>
            </a:r>
            <a:endParaRPr lang="en-US" sz="1300" dirty="0"/>
          </a:p>
        </p:txBody>
      </p:sp>
      <p:pic>
        <p:nvPicPr>
          <p:cNvPr id="6" name="Image 0" descr="/home/claude/ann_assignment/figures/01_ai_ml_dl_hierarch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1371600"/>
            <a:ext cx="548640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Evolution: Perceptron to Deep Networks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088136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3300984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-18288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34056" y="3300984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3657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93392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Rosenblatt's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10328" y="3300984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9664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problem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progress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86600" y="3300984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657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popularized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62872" y="3300984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22208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&amp;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boom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439144" y="3300984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81360" y="3657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98480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large-scale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architectures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Biological Neuron</a:t>
            </a:r>
            <a:endParaRPr lang="en-US" sz="3200" dirty="0"/>
          </a:p>
        </p:txBody>
      </p:sp>
      <p:pic>
        <p:nvPicPr>
          <p:cNvPr id="4" name="Image 0" descr="/home/claude/ann_assignment/figures/02_biological_neur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7665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691640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electrochemical signals from other neurons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589520" y="2651760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2926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incoming signals in the cell body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89520" y="3611880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0" y="3886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an impulse if the signal exceeds a threshold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89520" y="4572000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4526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63840" y="4846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that passes the signal to the next neuron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Biology to Mathematics</a:t>
            </a:r>
            <a:endParaRPr lang="en-US" sz="3200" dirty="0"/>
          </a:p>
        </p:txBody>
      </p:sp>
      <p:pic>
        <p:nvPicPr>
          <p:cNvPr id="4" name="Image 0" descr="/home/claude/ann_assignment/figures/03_artificial_neur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737360"/>
            <a:ext cx="69494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73736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10243E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Σ wᵢxᵢ + b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f(z)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46720" y="320040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(x): </a:t>
            </a: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values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(w): </a:t>
            </a: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importance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(b): </a:t>
            </a: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activation threshold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 ): </a:t>
            </a: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Perceptron (1958)</a:t>
            </a:r>
            <a:endParaRPr lang="en-US" sz="3200" dirty="0"/>
          </a:p>
        </p:txBody>
      </p:sp>
      <p:pic>
        <p:nvPicPr>
          <p:cNvPr id="4" name="Image 0" descr="/home/claude/ann_assignment/figures/04_perceptr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554480"/>
            <a:ext cx="53949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28216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(x₁...xₙ)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31136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(w₁...wₙ)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34056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(b)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236976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Summation unit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739896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activation → binary output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206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AF1F7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3434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w₁x₁ + w₂x₂ + ... + wₙxₙ + b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 if z ≥ 0, else 0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Perceptron: Strengths &amp; Limits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9F6E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1E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Simple and computationally inexpensive
•  Guaranteed convergence on linearly separable data
•  Foundation for all later neural network models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solves linearly separable problems (fails on XOR)
•  Hard step function blocks gradient-based learning
•  Limited representational power vs. multi-layer nets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Multi-Layer ANN Architecture</a:t>
            </a:r>
            <a:endParaRPr lang="en-US" sz="3200" dirty="0"/>
          </a:p>
        </p:txBody>
      </p:sp>
      <p:pic>
        <p:nvPicPr>
          <p:cNvPr id="4" name="Image 0" descr="/home/claude/ann_assignment/figures/05_ann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110642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0" y="5532120"/>
            <a:ext cx="201168" cy="201168"/>
          </a:xfrm>
          <a:prstGeom prst="ellipse">
            <a:avLst/>
          </a:prstGeom>
          <a:solidFill>
            <a:srgbClr val="AED6F1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35808" y="5468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94960" y="5532120"/>
            <a:ext cx="201168" cy="201168"/>
          </a:xfrm>
          <a:prstGeom prst="ellipse">
            <a:avLst/>
          </a:prstGeom>
          <a:solidFill>
            <a:srgbClr val="A9DFBF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87568" y="5468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5532120"/>
            <a:ext cx="201168" cy="201168"/>
          </a:xfrm>
          <a:prstGeom prst="ellipse">
            <a:avLst/>
          </a:prstGeom>
          <a:solidFill>
            <a:srgbClr val="F5B7B1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9328" y="5468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6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Σ(i=1→n) wᵢxᵢ + 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is scaled by its weight; results are summed with a bias term.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form:  Z = W·X + 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16324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&amp; Output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f(z)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2461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is introduced so the network can learn complex, non-linear mappings — without it, stacked layers collapse into one linear function.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4480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form:  A[l] = f(W[l]·A[l-1] + b[l])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</a:t>
            </a: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Activation Functions Matter</a:t>
            </a:r>
            <a:endParaRPr lang="en-US" sz="3200" dirty="0"/>
          </a:p>
        </p:txBody>
      </p:sp>
      <p:pic>
        <p:nvPicPr>
          <p:cNvPr id="4" name="Image 0" descr="/home/claude/ann_assignment/figures/07_activation_func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1106424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Artificial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Function Comparison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38911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Advantage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Disadvantage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probabilistic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(-1,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Zero-centered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vanishes at extremes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∞)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avoids vanishing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'Dying ReLU' for z &lt;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 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(-∞, ∞)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dying 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hyperparameter (α)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(-α, ∞)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negative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costly to compute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(0,1), sums to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probabilities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valid across full vector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Flows Through the Network</a:t>
            </a:r>
            <a:endParaRPr lang="en-US" sz="3200" dirty="0"/>
          </a:p>
        </p:txBody>
      </p:sp>
      <p:pic>
        <p:nvPicPr>
          <p:cNvPr id="4" name="Image 0" descr="/home/claude/ann_assignment/figures/06_forward_propag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2194560"/>
            <a:ext cx="1143000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6634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is multiplied by weights, summed with a bias, passed through an activation function, and forwarded — layer by layer — until the final prediction is produced.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Numerical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190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71907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 = 0.6, x2 = 0.9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4963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weighted sum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4963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zh = (0.6·0.5) + (0.9·-0.3) + 0.1 = 0.13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73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activation (ReLU)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27355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 = max(0, 0.13) = 0.13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50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weighted sum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05079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 = (0.13·0.8) − 0.05 = 0.054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828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activation (Sigmoid)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482803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= 1 / (1 + e⁻⁰·⁰⁵⁴) ≈ 0.5135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≈ 0.5135  →  classified as the positive class (threshold 0.5)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Hyperparameters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920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weight-update step during gradient descent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91640"/>
            <a:ext cx="73152" cy="1920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samples processed before one weight update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91640"/>
            <a:ext cx="73152" cy="1920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874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complete passes through the training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1920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23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Layers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the network; controls hierarchical feature learning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840480"/>
            <a:ext cx="73152" cy="1920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023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Neurons per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6177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of each layer; controls representational capacity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 of ANN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9F6E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Models complex, non-linear relationships
•  Generalizes well with sufficient data
•  Flexible across vision, language, tabular, time-series
•  Scales with more data and compute
•  Learns features automatically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Needs large amounts of labeled data
•  Computationally expensive to train
•  Prone to overfitting
•  Largely a 'black box' — hard to interpret
•  Sensitive to hyperparameters &amp; initialization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ANN Is Used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585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objects, faces, and scenes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9202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585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624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support &amp; outcome prediction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19202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585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&amp; algorithmic trading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5204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58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224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speech into 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5204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858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0" y="4224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content &amp; product suggestions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35204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858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66760" y="4224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anomalous transactions in real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120640"/>
            <a:ext cx="274320" cy="2743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4589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77240" y="58247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demand, prices, and trends over time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ANN Training Pipeline</a:t>
            </a:r>
            <a:endParaRPr lang="en-US" sz="3200" dirty="0"/>
          </a:p>
        </p:txBody>
      </p:sp>
      <p:pic>
        <p:nvPicPr>
          <p:cNvPr id="4" name="Image 0" descr="/home/claude/ann_assignment/figures/08_training_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828800"/>
            <a:ext cx="114300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the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1–2: Activation functions implemented &amp; plotted from scratch (NumPy)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A single artificial neuron — weighted sum &amp; activation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127248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5409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Full forward propagation, 2→3→1 network (NumPy)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85616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124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Equivalent network rebuilt in TensorFlow/Keras — outputs verified to match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443984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Overlayed comparison of activation functions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5102352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292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(Bonus): End-to-end ANN trained on the Breast Cancer Wisconsin dataset, with loss/accuracy curves and a confusion matrix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Task: Breast Cancer Classifier</a:t>
            </a:r>
            <a:endParaRPr lang="en-US" sz="3200" dirty="0"/>
          </a:p>
        </p:txBody>
      </p:sp>
      <p:pic>
        <p:nvPicPr>
          <p:cNvPr id="4" name="Image 0" descr="/home/claude/ann_assignment/figures/notebook_training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00200"/>
            <a:ext cx="6766560" cy="2834640"/>
          </a:xfrm>
          <a:prstGeom prst="rect">
            <a:avLst/>
          </a:prstGeom>
        </p:spPr>
      </p:pic>
      <p:pic>
        <p:nvPicPr>
          <p:cNvPr id="5" name="Image 1" descr="/home/claude/ann_assignment/figures/notebook_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8080" y="1600200"/>
            <a:ext cx="42062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663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 → 16 → 8 → 1 Keras ANN (ReLU + Sigmoid) trained on 30 numeric tumor features converges within ~50 epochs, with training and validation curves tracking closely.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" y="0"/>
            <a:ext cx="12188952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9" name="Text 7"/>
          <p:cNvSpPr/>
          <p:nvPr/>
        </p:nvSpPr>
        <p:spPr>
          <a:xfrm>
            <a:off x="4599185" y="2971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3200" b="1" dirty="0" smtClean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3200" b="1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1140</Words>
  <Application>Microsoft Office PowerPoint</Application>
  <PresentationFormat>Widescreen</PresentationFormat>
  <Paragraphs>253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2026-07-20T20:53:19Z</dcterms:created>
  <dcterms:modified xsi:type="dcterms:W3CDTF">2026-07-20T18:07:25Z</dcterms:modified>
</cp:coreProperties>
</file>