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4" autoAdjust="0"/>
    <p:restoredTop sz="85098" autoAdjust="0"/>
  </p:normalViewPr>
  <p:slideViewPr>
    <p:cSldViewPr snapToGrid="0" snapToObjects="1">
      <p:cViewPr>
        <p:scale>
          <a:sx n="71" d="100"/>
          <a:sy n="71" d="100"/>
        </p:scale>
        <p:origin x="492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Error Sources vs. Model Complexity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Bias²</c:v>
                </c:pt>
              </c:strCache>
            </c:strRef>
          </c:tx>
          <c:spPr>
            <a:ln w="38100" cap="flat">
              <a:solidFill>
                <a:srgbClr val="5B647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Simple</c:v>
                </c:pt>
                <c:pt idx="4">
                  <c:v>Complex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5.6</c:v>
                </c:pt>
                <c:pt idx="2">
                  <c:v>3.4</c:v>
                </c:pt>
                <c:pt idx="3">
                  <c:v>1.8</c:v>
                </c:pt>
                <c:pt idx="4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43-40DA-A570-6E97CBF42F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Variance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Simple</c:v>
                </c:pt>
                <c:pt idx="4">
                  <c:v>Complex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</c:v>
                </c:pt>
                <c:pt idx="1">
                  <c:v>1.7</c:v>
                </c:pt>
                <c:pt idx="2">
                  <c:v>3.1</c:v>
                </c:pt>
                <c:pt idx="3">
                  <c:v>5.4</c:v>
                </c:pt>
                <c:pt idx="4">
                  <c:v>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43-40DA-A570-6E97CBF42F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B6472"/>
                    </a:solidFill>
                    <a:latin typeface="Arial"/>
                  </a:rPr>
                  <a:t>Model Complexity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B6472"/>
                    </a:solidFill>
                    <a:latin typeface="Arial"/>
                  </a:rPr>
                  <a:t>Error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Learning Rate over Epochs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Constant</c:v>
                </c:pt>
              </c:strCache>
            </c:strRef>
          </c:tx>
          <c:spPr>
            <a:ln w="38100" cap="flat">
              <a:solidFill>
                <a:srgbClr val="5B647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C5-479E-954B-763BDF4FDC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Decay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0.01</c:v>
                </c:pt>
                <c:pt idx="1">
                  <c:v>0.01</c:v>
                </c:pt>
                <c:pt idx="2">
                  <c:v>5.0000000000000001E-3</c:v>
                </c:pt>
                <c:pt idx="3">
                  <c:v>5.0000000000000001E-3</c:v>
                </c:pt>
                <c:pt idx="4">
                  <c:v>2.5000000000000001E-3</c:v>
                </c:pt>
                <c:pt idx="5">
                  <c:v>2.5000000000000001E-3</c:v>
                </c:pt>
                <c:pt idx="6">
                  <c:v>1.25E-3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C5-479E-954B-763BDF4FDC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Exponential Decay</c:v>
                </c:pt>
              </c:strCache>
            </c:strRef>
          </c:tx>
          <c:spPr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0.01</c:v>
                </c:pt>
                <c:pt idx="1">
                  <c:v>7.4000000000000003E-3</c:v>
                </c:pt>
                <c:pt idx="2">
                  <c:v>5.4999999999999997E-3</c:v>
                </c:pt>
                <c:pt idx="3">
                  <c:v>4.1000000000000003E-3</c:v>
                </c:pt>
                <c:pt idx="4">
                  <c:v>3.0000000000000001E-3</c:v>
                </c:pt>
                <c:pt idx="5">
                  <c:v>2.2000000000000001E-3</c:v>
                </c:pt>
                <c:pt idx="6">
                  <c:v>1.6999999999999999E-3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DC5-479E-954B-763BDF4FDC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B6472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B6472"/>
                    </a:solidFill>
                    <a:latin typeface="Arial"/>
                  </a:rPr>
                  <a:t>Learning Rate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Adaptive &amp; Smooth Schedules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Reduce on Plateau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5.0000000000000001E-3</c:v>
                </c:pt>
                <c:pt idx="4">
                  <c:v>5.0000000000000001E-3</c:v>
                </c:pt>
                <c:pt idx="5">
                  <c:v>2.5000000000000001E-3</c:v>
                </c:pt>
                <c:pt idx="6">
                  <c:v>2.5000000000000001E-3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B0-4269-9707-25C4343D3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Cosine Annealing</c:v>
                </c:pt>
              </c:strCache>
            </c:strRef>
          </c:tx>
          <c:spPr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0.01</c:v>
                </c:pt>
                <c:pt idx="1">
                  <c:v>8.6999999999999994E-3</c:v>
                </c:pt>
                <c:pt idx="2">
                  <c:v>6.4999999999999997E-3</c:v>
                </c:pt>
                <c:pt idx="3">
                  <c:v>5.0000000000000001E-3</c:v>
                </c:pt>
                <c:pt idx="4">
                  <c:v>3.5000000000000001E-3</c:v>
                </c:pt>
                <c:pt idx="5">
                  <c:v>1.2999999999999999E-3</c:v>
                </c:pt>
                <c:pt idx="6">
                  <c:v>1E-4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0-4269-9707-25C4343D3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B6472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lang="en-US" sz="1050" b="0" i="0" u="none" strike="noStrike">
                    <a:solidFill>
                      <a:srgbClr val="5B6472"/>
                    </a:solidFill>
                    <a:latin typeface="Arial"/>
                  </a:rPr>
                  <a:t>Learning Rate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46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REGULARIZATION, HYPERPARAMETER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&amp; TRAINING STRATEGIES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Artificial Neural Networks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Topics We'll Cover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1568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ann_advanced_ppt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298" y="19545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28600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Training NNs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743200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Underfitting, overfitting, bias/variance, instability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0248" y="16916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11" name="Text 8"/>
          <p:cNvSpPr/>
          <p:nvPr/>
        </p:nvSpPr>
        <p:spPr>
          <a:xfrm>
            <a:off x="4407408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23176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ann_advanced_ppt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906" y="19545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228600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Techniques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07408" y="2743200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L1, L2, Elastic Net, Weight Decay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991856" y="16916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17" name="Text 13"/>
          <p:cNvSpPr/>
          <p:nvPr/>
        </p:nvSpPr>
        <p:spPr>
          <a:xfrm>
            <a:off x="8129016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084478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ann_advanced_ppt/icon_rand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0514" y="195453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29016" y="228600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129016" y="2743200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Mechanism, rate selection, trade-offs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584448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36758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3401568" y="37216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ann_advanced_ppt/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7298" y="3847338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" y="4178808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85800" y="4636008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shift, mechanism, placement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70248" y="3584448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29" name="Text 23"/>
          <p:cNvSpPr/>
          <p:nvPr/>
        </p:nvSpPr>
        <p:spPr>
          <a:xfrm>
            <a:off x="4407408" y="36758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7123176" y="37216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/home/claude/ann_advanced_ppt/icon_d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8906" y="3847338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407408" y="4178808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Initialization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407408" y="4636008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Xavier/Glorot, He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991856" y="3584448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35" name="Text 28"/>
          <p:cNvSpPr/>
          <p:nvPr/>
        </p:nvSpPr>
        <p:spPr>
          <a:xfrm>
            <a:off x="8129016" y="36758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10844784" y="37216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5" descr="/home/claude/ann_advanced_ppt/icon_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0514" y="3847338"/>
            <a:ext cx="251460" cy="2514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129016" y="4178808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129016" y="4636008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to cosine annealing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48640" y="5477256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41" name="Text 33"/>
          <p:cNvSpPr/>
          <p:nvPr/>
        </p:nvSpPr>
        <p:spPr>
          <a:xfrm>
            <a:off x="685800" y="55686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Shape 34"/>
          <p:cNvSpPr/>
          <p:nvPr/>
        </p:nvSpPr>
        <p:spPr>
          <a:xfrm>
            <a:off x="3401568" y="5614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6" descr="/home/claude/ann_advanced_ppt/icon_st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7298" y="5740146"/>
            <a:ext cx="251460" cy="25146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85800" y="6071616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&amp; Checkpointing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685800" y="6528816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overfitting practically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4270248" y="5477256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47" name="Text 38"/>
          <p:cNvSpPr/>
          <p:nvPr/>
        </p:nvSpPr>
        <p:spPr>
          <a:xfrm>
            <a:off x="4407408" y="55686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8" name="Shape 39"/>
          <p:cNvSpPr/>
          <p:nvPr/>
        </p:nvSpPr>
        <p:spPr>
          <a:xfrm>
            <a:off x="7123176" y="5614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9" name="Image 7" descr="/home/claude/ann_advanced_ppt/icon_slid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8906" y="5740146"/>
            <a:ext cx="251460" cy="25146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407408" y="6071616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</a:t>
            </a:r>
            <a:endParaRPr lang="en-US" sz="1250" dirty="0"/>
          </a:p>
        </p:txBody>
      </p:sp>
      <p:sp>
        <p:nvSpPr>
          <p:cNvPr id="51" name="Text 41"/>
          <p:cNvSpPr/>
          <p:nvPr/>
        </p:nvSpPr>
        <p:spPr>
          <a:xfrm>
            <a:off x="4407408" y="6528816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knobs that matter most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7991856" y="5477256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</p:spPr>
      </p:sp>
      <p:sp>
        <p:nvSpPr>
          <p:cNvPr id="53" name="Text 43"/>
          <p:cNvSpPr/>
          <p:nvPr/>
        </p:nvSpPr>
        <p:spPr>
          <a:xfrm>
            <a:off x="8129016" y="55686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54" name="Shape 44"/>
          <p:cNvSpPr/>
          <p:nvPr/>
        </p:nvSpPr>
        <p:spPr>
          <a:xfrm>
            <a:off x="10844784" y="5614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5" name="Image 8" descr="/home/claude/ann_advanced_ppt/icon_rock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0514" y="5740146"/>
            <a:ext cx="251460" cy="251460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129016" y="6071616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57" name="Text 46"/>
          <p:cNvSpPr/>
          <p:nvPr/>
        </p:nvSpPr>
        <p:spPr>
          <a:xfrm>
            <a:off x="8129016" y="6528816"/>
            <a:ext cx="3264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Activations, optimizers, evaluation, tracking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CHALLENGES IN TRAINING NNS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 &amp; Overfitting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23913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5B647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394960" cy="5029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ann_advanced_ppt/icon_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2008251"/>
            <a:ext cx="326898" cy="326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28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fails to capture the underlying pattern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675888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training error AND high validation error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315968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bigger network, train longer, reduce regularization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16916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9360" y="2148840"/>
            <a:ext cx="53949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ann_advanced_ppt/icon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91" y="2008251"/>
            <a:ext cx="326898" cy="3268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828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583680" y="2926080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training data instead of generalizing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83680" y="3675888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training error, high validation error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537960" y="4425696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regularization, dropout, more data, early stopping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CHALLENGES IN TRAINING NNS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 vs. High Variance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1264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78308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269480" y="1892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69480" y="22402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simple; systematically wrong; underfits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40880" y="320040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3310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69480" y="36576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sensitive to training data; overfits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40880" y="461772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</p:sp>
      <p:sp>
        <p:nvSpPr>
          <p:cNvPr id="15" name="Text 12"/>
          <p:cNvSpPr/>
          <p:nvPr/>
        </p:nvSpPr>
        <p:spPr>
          <a:xfrm>
            <a:off x="7269480" y="47274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69480" y="50749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train vs. val error gap and absolute level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CHALLENGES IN TRAINING NNS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Instability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loss oscillates wildly, explodes, or gets stuck instead of converging smoothly.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2359152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/home/claude/ann_advanced_ppt/icon_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54" y="2530602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0040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70332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grow uncontrollably — weights diverge to NaN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92424" y="210312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361688" y="2359152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/home/claude/ann_advanced_ppt/icon_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138" y="2530602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320040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57016" y="370332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to ~0 in deep nets — early layers stop learning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6208" y="210312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7205472" y="2359152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2" descr="/home/claude/ann_advanced_ppt/icon_wave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922" y="2530602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320040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Oscillating Loss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0" y="370332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too high — loss bounces around minimum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79992" y="210312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49256" y="2359152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/home/claude/ann_advanced_ppt/icon_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0706" y="2530602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20040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Neurons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244584" y="370332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units stuck outputting zero permanently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/>
        </p:spPr>
      </p:sp>
      <p:sp>
        <p:nvSpPr>
          <p:cNvPr id="27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REGULARIZATION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Regularization (Lasso)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7830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ann_advanced_ppt/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01168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8803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+ λ Σ|w|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absolute weight magnitude, pushing many weights to exactly zero.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77640" y="16002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77640" y="2011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sum of absolute weight values to the loss function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977640" y="243230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of the penalty is constant, pushing weights steadily toward zero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977640" y="28529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weights are driven to exactly zero during training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77640" y="341071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Use Cases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77640" y="38496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automatic feature selection via sparsity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77640" y="427024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smaller, more interpretable models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977640" y="46908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high-dimensional data where only a few inputs matter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REGULARIZATION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Regularization (Ridge)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7830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ann_advanced_ppt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01168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8803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+ λ Σ w²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squared weight magnitude, shrinking all weights smoothly toward zero.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77640" y="16002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77640" y="2011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sum of squared weight values to the loss function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977640" y="243230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of the penalty is proportional to weight size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977640" y="28529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shrink smoothly toward zero but rarely reach it exactly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77640" y="341071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Use Cases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77640" y="38496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features but dampens their influence evenly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77640" y="427024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default for hidden layers in ANNs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977640" y="46908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correlated features, general-purpose overfitting control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REGULARIZATION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7830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ann_advanced_ppt/icon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01168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8803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+ λ₁Σ|w| + λ₂Σw²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L1 sparsity with L2 stability using two separate penalty terms.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77640" y="16002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77640" y="2011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L1 and L2 penalties in a single loss term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977640" y="243230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mixing ratio α controls the balance between L1 and L2 behavior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77640" y="341071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Use Cases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77640" y="38496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groups of correlated features better than L1 alone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77640" y="427024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than pure L1 when features are highly correlated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977640" y="46908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many correlated features with a need for some sparsity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REGULARIZATION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Decay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7830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ann_advanced_ppt/icon_arr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01168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8803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η(∇L + λw)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560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directly in the weight update rule rather than the loss function.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77640" y="16002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77640" y="2011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shrinks weights during the optimizer's update step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977640" y="243230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equivalent to L2 for plain SGD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77640" y="341071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Use Cases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77640" y="38496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 as an optimizer parameter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77640" y="427024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decouples weight decay from gradient adaptation for better results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REGULARIZATION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 </a:t>
            </a:r>
            <a:r>
              <a:rPr lang="en-US" sz="25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031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51760" y="1920240"/>
            <a:ext cx="32004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0" y="192024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0" y="1920240"/>
            <a:ext cx="28346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0" y="1920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2103120" cy="777240"/>
          </a:xfrm>
          <a:prstGeom prst="rect">
            <a:avLst/>
          </a:prstGeom>
          <a:solidFill>
            <a:srgbClr val="EEF3FC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23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51760" y="2423160"/>
            <a:ext cx="3200400" cy="777240"/>
          </a:xfrm>
          <a:prstGeom prst="rect">
            <a:avLst/>
          </a:prstGeom>
          <a:solidFill>
            <a:srgbClr val="EEF3FC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423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|w|, drives to 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0" y="2423160"/>
            <a:ext cx="2926080" cy="777240"/>
          </a:xfrm>
          <a:prstGeom prst="rect">
            <a:avLst/>
          </a:prstGeom>
          <a:solidFill>
            <a:srgbClr val="EEF3FC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423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Sparsity, feature selection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2423160"/>
            <a:ext cx="2834640" cy="777240"/>
          </a:xfrm>
          <a:prstGeom prst="rect">
            <a:avLst/>
          </a:prstGeom>
          <a:solidFill>
            <a:srgbClr val="EEF3FC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24231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High-dim, few relevant features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00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(Ridge)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51760" y="3200400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200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w², shrinks smoothly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52160" y="3200400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200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keeps all features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778240" y="3200400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32004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overfitting control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2103120" cy="777240"/>
          </a:xfrm>
          <a:prstGeom prst="rect">
            <a:avLst/>
          </a:prstGeom>
          <a:solidFill>
            <a:srgbClr val="EEF3FC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51760" y="3977640"/>
            <a:ext cx="3200400" cy="777240"/>
          </a:xfrm>
          <a:prstGeom prst="rect">
            <a:avLst/>
          </a:prstGeom>
          <a:solidFill>
            <a:srgbClr val="EEF3FC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977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L1 + L2 penalties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52160" y="3977640"/>
            <a:ext cx="2926080" cy="777240"/>
          </a:xfrm>
          <a:prstGeom prst="rect">
            <a:avLst/>
          </a:prstGeom>
          <a:solidFill>
            <a:srgbClr val="EEF3FC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977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+ stability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78240" y="3977640"/>
            <a:ext cx="2834640" cy="777240"/>
          </a:xfrm>
          <a:prstGeom prst="rect">
            <a:avLst/>
          </a:prstGeom>
          <a:solidFill>
            <a:srgbClr val="EEF3FC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3977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 groups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75488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754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651760" y="4754880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47548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weights in update step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852160" y="4754880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4754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optimizer-native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778240" y="4754880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15400" y="4754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modern frameworks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DROPOUT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Dropout? 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Dropout?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networks tend to co-adapt neurons, relying on specific combinations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Co-adaptation makes the model fragile and prone to overfitting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Mechanism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training step, each neuron is dropped with probability 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7274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neurons' outputs are scaled by 1/(1−p) (inverted dropout)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EE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0" y="301752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3017520"/>
            <a:ext cx="1280160" cy="8229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017520"/>
            <a:ext cx="1280160" cy="19202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84048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84048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3840480"/>
            <a:ext cx="1280160" cy="10972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466344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66344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4663440"/>
            <a:ext cx="1280160" cy="2743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74320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2743200"/>
            <a:ext cx="1280160" cy="5486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2743200"/>
            <a:ext cx="1280160" cy="10972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2743200"/>
            <a:ext cx="1280160" cy="16459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743200"/>
            <a:ext cx="1280160" cy="21945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384048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384048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384048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3840480"/>
            <a:ext cx="1280160" cy="5486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3840480"/>
            <a:ext cx="1280160" cy="10972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493776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493776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493776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493776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493776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5440" y="2743200"/>
            <a:ext cx="1280160" cy="5486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35440" y="2743200"/>
            <a:ext cx="1280160" cy="16459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329184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0" y="3291840"/>
            <a:ext cx="1280160" cy="10972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35440" y="384048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0" y="3840480"/>
            <a:ext cx="1280160" cy="5486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35440" y="438912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35440" y="438912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35440" y="493776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4937760"/>
            <a:ext cx="1280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65392" y="290779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65392" y="373075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65392" y="455371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45552" y="263347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45552" y="318211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7845552" y="373075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45552" y="427939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47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7845552" y="482803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25712" y="263347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25712" y="318211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25712" y="373075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25712" y="427939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25712" y="482803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05872" y="318211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05872" y="427939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5669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circles = dropped neurons for this training step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DROPOUT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Dropout Rates &amp; Trade-offs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Dropout Rates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– 0.2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regularization on raw features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0.5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66160" y="28163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range for dense layers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0.8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FC layers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28163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dropout for high-capacity nets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89720" y="1920240"/>
            <a:ext cx="2697480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used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26880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26880" y="28163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is typically avoided here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85876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0" descr="/home/claude/ann_advanced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98449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6304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22960" y="4480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effectively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22960" y="49103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ensembling many sub-networks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22960" y="53400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implement, no extra parameters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309360" y="3657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</p:sp>
      <p:sp>
        <p:nvSpPr>
          <p:cNvPr id="29" name="Shape 26"/>
          <p:cNvSpPr/>
          <p:nvPr/>
        </p:nvSpPr>
        <p:spPr>
          <a:xfrm>
            <a:off x="6537960" y="3858768"/>
            <a:ext cx="502920" cy="502920"/>
          </a:xfrm>
          <a:prstGeom prst="ellipse">
            <a:avLst/>
          </a:prstGeom>
          <a:solidFill>
            <a:srgbClr val="5B6472"/>
          </a:solidFill>
          <a:ln/>
        </p:spPr>
      </p:sp>
      <p:pic>
        <p:nvPicPr>
          <p:cNvPr id="30" name="Image 1" descr="/home/claude/ann_advanced_ppt/icon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3984498"/>
            <a:ext cx="251460" cy="2514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23760" y="3886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6583680" y="4480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training time to converge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6583680" y="49103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small networks or datasets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6583680" y="53400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tuning rate per layer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BATCH 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Covariate Shift &amp; Mechanism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nn_advanced_ppt/icon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Covariate Shift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earlier layers' weights update, the distribution of inputs to later layers keeps changing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must constantly re-adapt to a shifting input distribution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slows convergence and requires lower learning rates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50876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/home/claude/ann_advanced_ppt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19431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Mechanism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83680" y="2606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each mini-batch: subtract mean, divide by std deviation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83680" y="32918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learnable scale (γ) and shift (β) parameters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83680" y="39776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BN(x) = γ · (x − μ) / √(σ² + ε) + β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BATCH 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Placement in an ANN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24328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ann_advanced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1259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56032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2862072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safely higher learning rates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2424" y="1874520"/>
            <a:ext cx="2624328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3529584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ann_advanced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884" y="21259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256032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sensitivity to init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29584" y="2862072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forgiving weight starting points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36208" y="1874520"/>
            <a:ext cx="2624328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6373368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ann_advanced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68" y="212598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256032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regularization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373368" y="2862072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noise adds a slight regularizing effect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079992" y="1874520"/>
            <a:ext cx="2624328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9217152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ann_advanced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452" y="212598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256032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gradient flow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217152" y="2862072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mitigate vanishing gradients in deep nets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8640" y="3566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 the Network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822960" y="4114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41148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429000" y="4434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3749040" y="4114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C9A227"/>
          </a:solidFill>
          <a:ln/>
        </p:spPr>
      </p:sp>
      <p:sp>
        <p:nvSpPr>
          <p:cNvPr id="30" name="Text 24"/>
          <p:cNvSpPr/>
          <p:nvPr/>
        </p:nvSpPr>
        <p:spPr>
          <a:xfrm>
            <a:off x="3749040" y="41148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355080" y="4434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6675120" y="4114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3" name="Text 27"/>
          <p:cNvSpPr/>
          <p:nvPr/>
        </p:nvSpPr>
        <p:spPr>
          <a:xfrm>
            <a:off x="6675120" y="41148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281160" y="4434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29"/>
          <p:cNvSpPr/>
          <p:nvPr/>
        </p:nvSpPr>
        <p:spPr>
          <a:xfrm>
            <a:off x="9601200" y="4114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6" name="Text 30"/>
          <p:cNvSpPr/>
          <p:nvPr/>
        </p:nvSpPr>
        <p:spPr>
          <a:xfrm>
            <a:off x="9601200" y="41148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(optional)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48640" y="54406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order: Dense/Conv → Batch Norm → Activation → (Dropout). Applied before the activation function.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WEIGHT INITIALIZATION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vs. Xavier/Glorot vs. He Initialization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5B647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13432"/>
            <a:ext cx="3538728" cy="612648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Shape 5"/>
          <p:cNvSpPr/>
          <p:nvPr/>
        </p:nvSpPr>
        <p:spPr>
          <a:xfrm>
            <a:off x="1997964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ann_advanced_ppt/icon_d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982" y="197281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1460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108960"/>
            <a:ext cx="280720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108960"/>
            <a:ext cx="2807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~ N(0, 0.01)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8404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small variance regardless of layer size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77240" y="4507992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cause vanishing or exploding activations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777240" y="5175504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used alone in deep networks today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270248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EEF3FC"/>
          </a:solidFill>
          <a:ln/>
        </p:spPr>
      </p:sp>
      <p:sp>
        <p:nvSpPr>
          <p:cNvPr id="16" name="Shape 13"/>
          <p:cNvSpPr/>
          <p:nvPr/>
        </p:nvSpPr>
        <p:spPr>
          <a:xfrm>
            <a:off x="4270248" y="16916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C9A227"/>
          </a:solidFill>
          <a:ln/>
        </p:spPr>
      </p:sp>
      <p:sp>
        <p:nvSpPr>
          <p:cNvPr id="17" name="Shape 14"/>
          <p:cNvSpPr/>
          <p:nvPr/>
        </p:nvSpPr>
        <p:spPr>
          <a:xfrm>
            <a:off x="4270248" y="2313432"/>
            <a:ext cx="3538728" cy="6126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9572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/home/claude/ann_advanced_ppt/icon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90" y="1972818"/>
            <a:ext cx="352044" cy="3520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07408" y="251460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/ Glorot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4636008" y="3108960"/>
            <a:ext cx="280720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3108960"/>
            <a:ext cx="2807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Var(w) = 1/n_in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498848" y="38404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variance by number of input units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4498848" y="4507992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signal variance stable across layers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4498848" y="5175504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sigmoid / tanh activations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7991856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EEF3FC"/>
          </a:solidFill>
          <a:ln/>
        </p:spPr>
      </p:sp>
      <p:sp>
        <p:nvSpPr>
          <p:cNvPr id="27" name="Shape 23"/>
          <p:cNvSpPr/>
          <p:nvPr/>
        </p:nvSpPr>
        <p:spPr>
          <a:xfrm>
            <a:off x="7991856" y="16916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8" name="Shape 24"/>
          <p:cNvSpPr/>
          <p:nvPr/>
        </p:nvSpPr>
        <p:spPr>
          <a:xfrm>
            <a:off x="7991856" y="2313432"/>
            <a:ext cx="3538728" cy="6126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Shape 25"/>
          <p:cNvSpPr/>
          <p:nvPr/>
        </p:nvSpPr>
        <p:spPr>
          <a:xfrm>
            <a:off x="944118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2" descr="/home/claude/ann_advanced_ppt/icon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198" y="1972818"/>
            <a:ext cx="352044" cy="3520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129016" y="251460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Initialization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8357616" y="3108960"/>
            <a:ext cx="280720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357616" y="3108960"/>
            <a:ext cx="2807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Var(w) = 2/n_in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8220456" y="38404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ReLU zeroing out half the units</a:t>
            </a:r>
            <a:endParaRPr lang="en-US" sz="1080" dirty="0"/>
          </a:p>
        </p:txBody>
      </p:sp>
      <p:sp>
        <p:nvSpPr>
          <p:cNvPr id="35" name="Text 30"/>
          <p:cNvSpPr/>
          <p:nvPr/>
        </p:nvSpPr>
        <p:spPr>
          <a:xfrm>
            <a:off x="8220456" y="4507992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variance compensates for ReLU's effect</a:t>
            </a:r>
            <a:endParaRPr lang="en-US" sz="1080" dirty="0"/>
          </a:p>
        </p:txBody>
      </p:sp>
      <p:sp>
        <p:nvSpPr>
          <p:cNvPr id="36" name="Text 31"/>
          <p:cNvSpPr/>
          <p:nvPr/>
        </p:nvSpPr>
        <p:spPr>
          <a:xfrm>
            <a:off x="8220456" y="5175504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choice for ReLU-based networks</a:t>
            </a:r>
            <a:endParaRPr lang="en-US" sz="1080" dirty="0"/>
          </a:p>
        </p:txBody>
      </p:sp>
      <p:sp>
        <p:nvSpPr>
          <p:cNvPr id="37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LEARNING RATE SCHEDULING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Constant, Step Decay &amp; Exponential Decay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3093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737360"/>
            <a:ext cx="443484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0" y="18470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LR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06640" y="21945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rate throughout — simple but rarely optimal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178040" y="3154680"/>
            <a:ext cx="443484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</p:sp>
      <p:sp>
        <p:nvSpPr>
          <p:cNvPr id="9" name="Text 6"/>
          <p:cNvSpPr/>
          <p:nvPr/>
        </p:nvSpPr>
        <p:spPr>
          <a:xfrm>
            <a:off x="7406640" y="32644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Decay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06640" y="36118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LR by a factor every N epochs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78040" y="4572000"/>
            <a:ext cx="443484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46817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Decay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06640" y="50292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Smoothly decreases LR by a fixed rate each epoch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LEARNING RATE SCHEDULING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on Plateau &amp; Cosine Annealing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3093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737360"/>
            <a:ext cx="4434840" cy="173736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on Plateau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06640" y="228600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val metric to stall, then cuts LR by a factor — fully adaptive, no fixed schedule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EARLY STOPPING &amp; CHECKPOINTING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Overfitting, Saving the Best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394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562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ann_advanced_ppt/icon_s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1989963"/>
            <a:ext cx="326898" cy="326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01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 validation metric (e.g. val_loss) every epoch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749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once no improvement is seen for a set 'patience'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6177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wasted computation and overfitting past the optimum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EEF3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2148840"/>
            <a:ext cx="539496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18562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home/claude/ann_advanced_ppt/icon_s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91" y="1989963"/>
            <a:ext cx="326898" cy="3268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1801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Checkpointing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583680" y="28803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model weights whenever validation performance improves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83680" y="3749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best-performing version is never lost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83680" y="46177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paired with early stopping's restore_best_weights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HYPERPARAMETER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Hyperparameters That Matter Most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nn_advanced_ppt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0688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depth — controls representational capacity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ann_advanced_ppt/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20688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per Layer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width — balances capacity vs. overfitting risk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ann_advanced_ppt/icon_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0" y="20688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75320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 — the single most impactful hyperparameter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ann_advanced_ppt/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44627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349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update — trades speed for gradient stability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ann_advanced_ppt/icon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870" y="444627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5349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duration — paired with early stopping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40690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ann_advanced_ppt/icon_thermome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910" y="444627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75320" y="5349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strength — tuned per layer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Activation Functions &amp; Optimizers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9202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hidden layers — fast, avoids vanishing gradients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 / ELU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254203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dead neurons are a problem with ReLU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48640" y="31638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316382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for binary classification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48640" y="378561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378561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for multi-class classification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19202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general-purpose default — adaptive, fast convergence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309360" y="25420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Momentum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254203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generalizes better with careful LR tuning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309360" y="3163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316382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RNNs and non-stationary objectives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309360" y="37856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378561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decoupled weight decay — modern default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1600200" y="49377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with ReLU + Adam as a strong baseline, then adjust based on what the loss curves tell you.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Hyperparameter Optimization &amp; Training Strategies for ANN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ann_advanced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1" y="182377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first: bias, variance, and instability all look different in loss curves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24231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/home/claude/ann_advanced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1" y="2509571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3774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 deliberately — L1/L2/Elastic Net/Dropout each solve a different problem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68680" y="31089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/home/claude/ann_advanced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1" y="3195371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0632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 and good weight init keep training stable from the first epoch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1417320" y="5150224"/>
            <a:ext cx="7315200" cy="839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18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1695</Words>
  <Application>Microsoft Office PowerPoint</Application>
  <PresentationFormat>Widescreen</PresentationFormat>
  <Paragraphs>337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2026-07-24T06:21:10Z</dcterms:created>
  <dcterms:modified xsi:type="dcterms:W3CDTF">2026-07-24T04:06:37Z</dcterms:modified>
</cp:coreProperties>
</file>